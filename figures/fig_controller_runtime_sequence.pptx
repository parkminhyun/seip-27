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a9242e39dc46bd" /><Relationship Type="http://schemas.openxmlformats.org/officeDocument/2006/relationships/extended-properties" Target="/docProps/app.xml" Id="R298c0e36a10846e3" /><Relationship Type="http://schemas.openxmlformats.org/officeDocument/2006/relationships/officeDocument" Target="/ppt/presentation.xml" Id="R7a9585bd953d46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ad72b55ea54d76"/>
  </p:sldMasterIdLst>
  <p:notesMasterIdLst>
    <p:notesMasterId xmlns:r="http://schemas.openxmlformats.org/officeDocument/2006/relationships" r:id="R5873f632c2d6487f"/>
  </p:notesMasterIdLst>
  <p:sldIdLst>
    <p:sldId xmlns:r="http://schemas.openxmlformats.org/officeDocument/2006/relationships" id="256" r:id="R42b1346d381d4b00"/>
  </p:sldIdLst>
  <p:sldSz cx="10972800" cy="4718304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5b54516f0d4a4e" /><Relationship Type="http://schemas.openxmlformats.org/officeDocument/2006/relationships/slideMaster" Target="/ppt/slideMasters/slideMaster1.xml" Id="R35ad72b55ea54d76" /><Relationship Type="http://schemas.openxmlformats.org/officeDocument/2006/relationships/notesMaster" Target="/ppt/notesMasters/notesMaster1.xml" Id="R5873f632c2d6487f" /><Relationship Type="http://schemas.openxmlformats.org/officeDocument/2006/relationships/presProps" Target="/ppt/presProps.xml" Id="R9f3f7f44d3d8437d" /><Relationship Type="http://schemas.openxmlformats.org/officeDocument/2006/relationships/viewProps" Target="/ppt/viewProps.xml" Id="R2af8aed900484303" /><Relationship Type="http://schemas.openxmlformats.org/officeDocument/2006/relationships/tableStyles" Target="/ppt/tableStyles.xml" Id="R10a269e8936242bf" /><Relationship Type="http://schemas.openxmlformats.org/officeDocument/2006/relationships/slide" Target="/ppt/slides/slide1.xml" Id="R42b1346d381d4b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bc9cc940a443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5c90383faa42fa" /><Relationship Type="http://schemas.openxmlformats.org/officeDocument/2006/relationships/notesMaster" Target="/ppt/notesMasters/notesMaster1.xml" Id="Rc93502c79a964a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implementation audit: ML commit cdd524fbd86e390446cbbd15c0e4f7923d4f1c58.</a:t>
            </a:r>
            <a:endParaRPr/>
          </a:p>
          <a:p xmlns:a="http://schemas.openxmlformats.org/drawingml/2006/main">
            <a:r>
              <a:t>- Manuscript Sections 3.3-3.5.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a170a108e9485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d4242cb1604faf" /><Relationship Type="http://schemas.openxmlformats.org/officeDocument/2006/relationships/slideLayout" Target="/ppt/slideLayouts/slideLayout1.xml" Id="R528a3d27bdac4fa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8a3d27bdac4fa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38b4f89b84bfc" /><Relationship Type="http://schemas.openxmlformats.org/officeDocument/2006/relationships/notesSlide" Target="/ppt/notesSlides/notesSlide1.xml" Id="Rdb935d3ab94942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event-1-header">
            <a:extLst xmlns:a="http://schemas.openxmlformats.org/drawingml/2006/main">
              <a:ext uri="{FF2B5EF4-FFF2-40B4-BE49-F238E27FC236}">
                <a16:creationId xmlns:a16="http://schemas.microsoft.com/office/drawing/2014/main" id="{0E5C6D2F-9C57-46AE-843A-5FA3E542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71450"/>
            <a:ext cx="1600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ED"/>
          </a:solidFill>
          <a:ln xmlns:a="http://schemas.openxmlformats.org/drawingml/2006/main" w="11906">
            <a:solidFill>
              <a:srgbClr val="E56E2E"/>
            </a:solidFill>
            <a:prstDash val="solid"/>
          </a:ln>
        </p:spPr>
      </p:sp>
      <p:sp>
        <p:nvSpPr>
          <p:cNvPr id="2" name="event-1-number">
            <a:extLst xmlns:a="http://schemas.openxmlformats.org/drawingml/2006/main">
              <a:ext uri="{FF2B5EF4-FFF2-40B4-BE49-F238E27FC236}">
                <a16:creationId xmlns:a16="http://schemas.microsoft.com/office/drawing/2014/main" id="{BE0EC013-6E06-4360-8E84-D2433CD6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76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E2E"/>
          </a:solidFill>
          <a:ln xmlns:a="http://schemas.openxmlformats.org/drawingml/2006/main" w="0">
            <a:solidFill>
              <a:srgbClr val="E56E2E"/>
            </a:solidFill>
            <a:prstDash val="solid"/>
          </a:ln>
        </p:spPr>
        <p:txBody>
          <a:bodyPr xmlns:a="http://schemas.openxmlformats.org/drawingml/2006/main" wrap="non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event-1-title">
            <a:extLst xmlns:a="http://schemas.openxmlformats.org/drawingml/2006/main">
              <a:ext uri="{FF2B5EF4-FFF2-40B4-BE49-F238E27FC236}">
                <a16:creationId xmlns:a16="http://schemas.microsoft.com/office/drawing/2014/main" id="{BAAF0A24-640D-404C-99DC-621D1983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050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E56E2E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E56E2E"/>
                </a:solidFill>
                <a:latin typeface="Arial"/>
                <a:ea typeface="Arial"/>
                <a:cs typeface="Arial"/>
              </a:rPr>
              <a:t>Callback</a:t>
            </a:r>
          </a:p>
          <a:p xmlns:a="http://schemas.openxmlformats.org/drawingml/2006/main">
            <a:pPr algn="ctr">
              <a:defRPr sz="1238" b="1">
                <a:solidFill>
                  <a:srgbClr val="E56E2E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E56E2E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4" name="event-2-header">
            <a:extLst xmlns:a="http://schemas.openxmlformats.org/drawingml/2006/main">
              <a:ext uri="{FF2B5EF4-FFF2-40B4-BE49-F238E27FC236}">
                <a16:creationId xmlns:a16="http://schemas.microsoft.com/office/drawing/2014/main" id="{A91D81BB-498D-43CE-97AD-197053BA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71450"/>
            <a:ext cx="1600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ED"/>
          </a:solidFill>
          <a:ln xmlns:a="http://schemas.openxmlformats.org/drawingml/2006/main" w="11906">
            <a:solidFill>
              <a:srgbClr val="E56E2E"/>
            </a:solidFill>
            <a:prstDash val="solid"/>
          </a:ln>
        </p:spPr>
      </p:sp>
      <p:sp>
        <p:nvSpPr>
          <p:cNvPr id="5" name="event-2-number">
            <a:extLst xmlns:a="http://schemas.openxmlformats.org/drawingml/2006/main">
              <a:ext uri="{FF2B5EF4-FFF2-40B4-BE49-F238E27FC236}">
                <a16:creationId xmlns:a16="http://schemas.microsoft.com/office/drawing/2014/main" id="{40DDA546-211E-420B-B8A9-B621FAF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6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E2E"/>
          </a:solidFill>
          <a:ln xmlns:a="http://schemas.openxmlformats.org/drawingml/2006/main" w="0">
            <a:solidFill>
              <a:srgbClr val="E56E2E"/>
            </a:solidFill>
            <a:prstDash val="solid"/>
          </a:ln>
        </p:spPr>
        <p:txBody>
          <a:bodyPr xmlns:a="http://schemas.openxmlformats.org/drawingml/2006/main" wrap="non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event-2-title">
            <a:extLst xmlns:a="http://schemas.openxmlformats.org/drawingml/2006/main">
              <a:ext uri="{FF2B5EF4-FFF2-40B4-BE49-F238E27FC236}">
                <a16:creationId xmlns:a16="http://schemas.microsoft.com/office/drawing/2014/main" id="{70F10AC1-6631-4906-B321-67094226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9050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E56E2E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E56E2E"/>
                </a:solidFill>
                <a:latin typeface="Arial"/>
                <a:ea typeface="Arial"/>
                <a:cs typeface="Arial"/>
              </a:rPr>
              <a:t>Draft</a:t>
            </a:r>
          </a:p>
          <a:p xmlns:a="http://schemas.openxmlformats.org/drawingml/2006/main">
            <a:pPr algn="ctr">
              <a:defRPr sz="1238" b="1">
                <a:solidFill>
                  <a:srgbClr val="E56E2E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E56E2E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7" name="event-3-header">
            <a:extLst xmlns:a="http://schemas.openxmlformats.org/drawingml/2006/main">
              <a:ext uri="{FF2B5EF4-FFF2-40B4-BE49-F238E27FC236}">
                <a16:creationId xmlns:a16="http://schemas.microsoft.com/office/drawing/2014/main" id="{DFFBCD54-7A47-48E8-9A47-623AA8F6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71450"/>
            <a:ext cx="1600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5FE"/>
          </a:solidFill>
          <a:ln xmlns:a="http://schemas.openxmlformats.org/drawingml/2006/main" w="11906">
            <a:solidFill>
              <a:srgbClr val="2476D2"/>
            </a:solidFill>
            <a:prstDash val="solid"/>
          </a:ln>
        </p:spPr>
      </p:sp>
      <p:sp>
        <p:nvSpPr>
          <p:cNvPr id="8" name="event-3-number">
            <a:extLst xmlns:a="http://schemas.openxmlformats.org/drawingml/2006/main">
              <a:ext uri="{FF2B5EF4-FFF2-40B4-BE49-F238E27FC236}">
                <a16:creationId xmlns:a16="http://schemas.microsoft.com/office/drawing/2014/main" id="{54245CDE-E610-4663-A56D-045848C0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76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6D2"/>
          </a:solidFill>
          <a:ln xmlns:a="http://schemas.openxmlformats.org/drawingml/2006/main" w="0">
            <a:solidFill>
              <a:srgbClr val="2476D2"/>
            </a:solidFill>
            <a:prstDash val="solid"/>
          </a:ln>
        </p:spPr>
        <p:txBody>
          <a:bodyPr xmlns:a="http://schemas.openxmlformats.org/drawingml/2006/main" wrap="non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event-3-title">
            <a:extLst xmlns:a="http://schemas.openxmlformats.org/drawingml/2006/main">
              <a:ext uri="{FF2B5EF4-FFF2-40B4-BE49-F238E27FC236}">
                <a16:creationId xmlns:a16="http://schemas.microsoft.com/office/drawing/2014/main" id="{0CF92975-A01C-4A4E-B930-C6AB077E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050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2476D2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2476D2"/>
                </a:solidFill>
                <a:latin typeface="Arial"/>
                <a:ea typeface="Arial"/>
                <a:cs typeface="Arial"/>
              </a:rPr>
              <a:t>Optional</a:t>
            </a:r>
          </a:p>
          <a:p xmlns:a="http://schemas.openxmlformats.org/drawingml/2006/main">
            <a:pPr algn="ctr">
              <a:defRPr sz="1238" b="1">
                <a:solidFill>
                  <a:srgbClr val="2476D2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2476D2"/>
                </a:solidFill>
                <a:latin typeface="Arial"/>
                <a:ea typeface="Arial"/>
                <a:cs typeface="Arial"/>
              </a:rPr>
              <a:t>node</a:t>
            </a:r>
          </a:p>
        </p:txBody>
      </p:sp>
      <p:sp>
        <p:nvSpPr>
          <p:cNvPr id="10" name="event-4-header">
            <a:extLst xmlns:a="http://schemas.openxmlformats.org/drawingml/2006/main">
              <a:ext uri="{FF2B5EF4-FFF2-40B4-BE49-F238E27FC236}">
                <a16:creationId xmlns:a16="http://schemas.microsoft.com/office/drawing/2014/main" id="{2EDD853F-FE55-48CC-A4B0-8A52FDAC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71450"/>
            <a:ext cx="1600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906">
            <a:solidFill>
              <a:srgbClr val="526477"/>
            </a:solidFill>
            <a:prstDash val="solid"/>
          </a:ln>
        </p:spPr>
      </p:sp>
      <p:sp>
        <p:nvSpPr>
          <p:cNvPr id="11" name="event-4-number">
            <a:extLst xmlns:a="http://schemas.openxmlformats.org/drawingml/2006/main">
              <a:ext uri="{FF2B5EF4-FFF2-40B4-BE49-F238E27FC236}">
                <a16:creationId xmlns:a16="http://schemas.microsoft.com/office/drawing/2014/main" id="{87EEA744-7F12-442E-AABF-72B79C4D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6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477"/>
          </a:solidFill>
          <a:ln xmlns:a="http://schemas.openxmlformats.org/drawingml/2006/main" w="0">
            <a:solidFill>
              <a:srgbClr val="526477"/>
            </a:solidFill>
            <a:prstDash val="solid"/>
          </a:ln>
        </p:spPr>
        <p:txBody>
          <a:bodyPr xmlns:a="http://schemas.openxmlformats.org/drawingml/2006/main" wrap="non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event-4-title">
            <a:extLst xmlns:a="http://schemas.openxmlformats.org/drawingml/2006/main">
              <a:ext uri="{FF2B5EF4-FFF2-40B4-BE49-F238E27FC236}">
                <a16:creationId xmlns:a16="http://schemas.microsoft.com/office/drawing/2014/main" id="{B17C9A89-6D41-4124-B86B-C878A4B1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9050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526477"/>
                </a:solidFill>
                <a:latin typeface="Arial"/>
                <a:ea typeface="Arial"/>
                <a:cs typeface="Arial"/>
              </a:rPr>
              <a:t>Draft</a:t>
            </a:r>
          </a:p>
          <a:p xmlns:a="http://schemas.openxmlformats.org/drawingml/2006/main">
            <a:pPr algn="ctr">
              <a:defRPr sz="1238" b="1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526477"/>
                </a:solidFill>
                <a:latin typeface="Arial"/>
                <a:ea typeface="Arial"/>
                <a:cs typeface="Arial"/>
              </a:rPr>
              <a:t>completion</a:t>
            </a:r>
          </a:p>
        </p:txBody>
      </p:sp>
      <p:sp>
        <p:nvSpPr>
          <p:cNvPr id="13" name="event-5-header">
            <a:extLst xmlns:a="http://schemas.openxmlformats.org/drawingml/2006/main">
              <a:ext uri="{FF2B5EF4-FFF2-40B4-BE49-F238E27FC236}">
                <a16:creationId xmlns:a16="http://schemas.microsoft.com/office/drawing/2014/main" id="{5463EA8E-74C0-4F47-B132-CF33D99C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1450"/>
            <a:ext cx="1600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906">
            <a:solidFill>
              <a:srgbClr val="526477"/>
            </a:solidFill>
            <a:prstDash val="solid"/>
          </a:ln>
        </p:spPr>
      </p:sp>
      <p:sp>
        <p:nvSpPr>
          <p:cNvPr id="14" name="event-5-number">
            <a:extLst xmlns:a="http://schemas.openxmlformats.org/drawingml/2006/main">
              <a:ext uri="{FF2B5EF4-FFF2-40B4-BE49-F238E27FC236}">
                <a16:creationId xmlns:a16="http://schemas.microsoft.com/office/drawing/2014/main" id="{AB71A0E8-899B-4C23-A0E1-86B4133F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76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477"/>
          </a:solidFill>
          <a:ln xmlns:a="http://schemas.openxmlformats.org/drawingml/2006/main" w="0">
            <a:solidFill>
              <a:srgbClr val="526477"/>
            </a:solidFill>
            <a:prstDash val="solid"/>
          </a:ln>
        </p:spPr>
        <p:txBody>
          <a:bodyPr xmlns:a="http://schemas.openxmlformats.org/drawingml/2006/main" wrap="none" lIns="9525" tIns="9525" rIns="952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event-5-title">
            <a:extLst xmlns:a="http://schemas.openxmlformats.org/drawingml/2006/main">
              <a:ext uri="{FF2B5EF4-FFF2-40B4-BE49-F238E27FC236}">
                <a16:creationId xmlns:a16="http://schemas.microsoft.com/office/drawing/2014/main" id="{BBBBAFA3-7B7B-426B-AD65-DF67F430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050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526477"/>
                </a:solidFill>
                <a:latin typeface="Arial"/>
                <a:ea typeface="Arial"/>
                <a:cs typeface="Arial"/>
              </a:rPr>
              <a:t>Queue</a:t>
            </a:r>
          </a:p>
          <a:p xmlns:a="http://schemas.openxmlformats.org/drawingml/2006/main">
            <a:pPr algn="ctr">
              <a:defRPr sz="1238" b="1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526477"/>
                </a:solidFill>
                <a:latin typeface="Arial"/>
                <a:ea typeface="Arial"/>
                <a:cs typeface="Arial"/>
              </a:rPr>
              <a:t>drain</a:t>
            </a:r>
          </a:p>
        </p:txBody>
      </p:sp>
      <p:cxnSp>
        <p:nvCxnSpPr>
          <p:cNvPr id="66" name=""/>
          <p:cNvCxnSpPr>
            <a:stCxn xmlns:a="http://schemas.openxmlformats.org/drawingml/2006/main" id="1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43300" y="428625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52647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305425" y="428625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52647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67550" y="428625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52647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29675" y="428625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52647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0" name="lane-1-band">
            <a:extLst xmlns:a="http://schemas.openxmlformats.org/drawingml/2006/main">
              <a:ext uri="{FF2B5EF4-FFF2-40B4-BE49-F238E27FC236}">
                <a16:creationId xmlns:a16="http://schemas.microsoft.com/office/drawing/2014/main" id="{B9F5BC27-67DE-4CAB-B39E-2CA24ED3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838200"/>
            <a:ext cx="878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4DCE8"/>
            </a:solidFill>
            <a:prstDash val="solid"/>
          </a:ln>
        </p:spPr>
      </p:sp>
      <p:sp>
        <p:nvSpPr>
          <p:cNvPr id="21" name="lane-1-label">
            <a:extLst xmlns:a="http://schemas.openxmlformats.org/drawingml/2006/main">
              <a:ext uri="{FF2B5EF4-FFF2-40B4-BE49-F238E27FC236}">
                <a16:creationId xmlns:a16="http://schemas.microsoft.com/office/drawing/2014/main" id="{0BA49845-CBA6-4EE6-89FD-7D8E290D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38200"/>
            <a:ext cx="1562100" cy="971550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FFF4ED"/>
          </a:solidFill>
          <a:ln xmlns:a="http://schemas.openxmlformats.org/drawingml/2006/main" w="11430">
            <a:solidFill>
              <a:srgbClr val="E56E2E"/>
            </a:solidFill>
            <a:prstDash val="solid"/>
          </a:ln>
        </p:spPr>
        <p:txBody>
          <a:bodyPr xmlns:a="http://schemas.openxmlformats.org/drawingml/2006/main" wrap="none" lIns="19050" tIns="38100" rIns="190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56E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56E2E"/>
                </a:solidFill>
                <a:latin typeface="Arial"/>
                <a:ea typeface="Arial"/>
                <a:cs typeface="Arial"/>
              </a:rPr>
              <a:t>Capture-Availability</a:t>
            </a:r>
          </a:p>
          <a:p xmlns:a="http://schemas.openxmlformats.org/drawingml/2006/main">
            <a:pPr algn="ctr">
              <a:defRPr sz="1125" b="1">
                <a:solidFill>
                  <a:srgbClr val="E56E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56E2E"/>
                </a:solidFill>
                <a:latin typeface="Arial"/>
                <a:ea typeface="Arial"/>
                <a:cs typeface="Arial"/>
              </a:rPr>
              <a:t>Pacing</a:t>
            </a:r>
          </a:p>
        </p:txBody>
      </p:sp>
      <p:sp>
        <p:nvSpPr>
          <p:cNvPr id="22" name="lane-2-band">
            <a:extLst xmlns:a="http://schemas.openxmlformats.org/drawingml/2006/main">
              <a:ext uri="{FF2B5EF4-FFF2-40B4-BE49-F238E27FC236}">
                <a16:creationId xmlns:a16="http://schemas.microsoft.com/office/drawing/2014/main" id="{EDBE98C3-99EB-4613-B39D-6918A913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24050"/>
            <a:ext cx="878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4DCE8"/>
            </a:solidFill>
            <a:prstDash val="solid"/>
          </a:ln>
        </p:spPr>
      </p:sp>
      <p:sp>
        <p:nvSpPr>
          <p:cNvPr id="23" name="lane-2-label">
            <a:extLst xmlns:a="http://schemas.openxmlformats.org/drawingml/2006/main">
              <a:ext uri="{FF2B5EF4-FFF2-40B4-BE49-F238E27FC236}">
                <a16:creationId xmlns:a16="http://schemas.microsoft.com/office/drawing/2014/main" id="{F346AE90-6CC3-4901-82B2-FE8C242A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24050"/>
            <a:ext cx="1562100" cy="971550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1430">
            <a:solidFill>
              <a:srgbClr val="14233E"/>
            </a:solidFill>
            <a:prstDash val="solid"/>
          </a:ln>
        </p:spPr>
        <p:txBody>
          <a:bodyPr xmlns:a="http://schemas.openxmlformats.org/drawingml/2006/main" wrap="none" lIns="19050" tIns="38100" rIns="190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33E"/>
                </a:solidFill>
                <a:latin typeface="Arial"/>
                <a:ea typeface="Arial"/>
                <a:cs typeface="Arial"/>
              </a:rPr>
              <a:t>Draft manager /</a:t>
            </a:r>
          </a:p>
          <a:p xmlns:a="http://schemas.openxmlformats.org/drawingml/2006/main">
            <a:pPr algn="ctr">
              <a:defRPr sz="1275" b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33E"/>
                </a:solidFill>
                <a:latin typeface="Arial"/>
                <a:ea typeface="Arial"/>
                <a:cs typeface="Arial"/>
              </a:rPr>
              <a:t>single worker</a:t>
            </a:r>
          </a:p>
        </p:txBody>
      </p:sp>
      <p:sp>
        <p:nvSpPr>
          <p:cNvPr id="24" name="lane-3-band">
            <a:extLst xmlns:a="http://schemas.openxmlformats.org/drawingml/2006/main">
              <a:ext uri="{FF2B5EF4-FFF2-40B4-BE49-F238E27FC236}">
                <a16:creationId xmlns:a16="http://schemas.microsoft.com/office/drawing/2014/main" id="{970765B7-5993-47EA-BD8A-71033D46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09900"/>
            <a:ext cx="8782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4DCE8"/>
            </a:solidFill>
            <a:prstDash val="solid"/>
          </a:ln>
        </p:spPr>
      </p:sp>
      <p:sp>
        <p:nvSpPr>
          <p:cNvPr id="25" name="lane-3-label">
            <a:extLst xmlns:a="http://schemas.openxmlformats.org/drawingml/2006/main">
              <a:ext uri="{FF2B5EF4-FFF2-40B4-BE49-F238E27FC236}">
                <a16:creationId xmlns:a16="http://schemas.microsoft.com/office/drawing/2014/main" id="{8463B40D-6F98-43A2-BACA-5AE4C372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009900"/>
            <a:ext cx="1562100" cy="971550"/>
          </a:xfrm>
          <a:prstGeom xmlns:a="http://schemas.openxmlformats.org/drawingml/2006/main" prst="roundRect">
            <a:avLst>
              <a:gd name="adj" fmla="val 6863"/>
            </a:avLst>
          </a:prstGeom>
          <a:solidFill xmlns:a="http://schemas.openxmlformats.org/drawingml/2006/main">
            <a:srgbClr val="EFF5FE"/>
          </a:solidFill>
          <a:ln xmlns:a="http://schemas.openxmlformats.org/drawingml/2006/main" w="11430">
            <a:solidFill>
              <a:srgbClr val="2476D2"/>
            </a:solidFill>
            <a:prstDash val="solid"/>
          </a:ln>
        </p:spPr>
        <p:txBody>
          <a:bodyPr xmlns:a="http://schemas.openxmlformats.org/drawingml/2006/main" wrap="none" lIns="19050" tIns="38100" rIns="190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76D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76D2"/>
                </a:solidFill>
                <a:latin typeface="Arial"/>
                <a:ea typeface="Arial"/>
                <a:cs typeface="Arial"/>
              </a:rPr>
              <a:t>Predictor /</a:t>
            </a:r>
          </a:p>
          <a:p xmlns:a="http://schemas.openxmlformats.org/drawingml/2006/main">
            <a:pPr algn="ctr">
              <a:defRPr sz="1275" b="1">
                <a:solidFill>
                  <a:srgbClr val="2476D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76D2"/>
                </a:solidFill>
                <a:latin typeface="Arial"/>
                <a:ea typeface="Arial"/>
                <a:cs typeface="Arial"/>
              </a:rPr>
              <a:t>admission policy</a:t>
            </a:r>
          </a:p>
        </p:txBody>
      </p:sp>
      <p:sp>
        <p:nvSpPr>
          <p:cNvPr id="26" name="event-divider-1">
            <a:extLst xmlns:a="http://schemas.openxmlformats.org/drawingml/2006/main">
              <a:ext uri="{FF2B5EF4-FFF2-40B4-BE49-F238E27FC236}">
                <a16:creationId xmlns:a16="http://schemas.microsoft.com/office/drawing/2014/main" id="{40E6A601-15F1-4638-AAB7-31494C1A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00100"/>
            <a:ext cx="0" cy="3257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4DCE8"/>
            </a:solidFill>
            <a:prstDash val="dash"/>
          </a:ln>
        </p:spPr>
      </p:sp>
      <p:sp>
        <p:nvSpPr>
          <p:cNvPr id="27" name="event-divider-2">
            <a:extLst xmlns:a="http://schemas.openxmlformats.org/drawingml/2006/main">
              <a:ext uri="{FF2B5EF4-FFF2-40B4-BE49-F238E27FC236}">
                <a16:creationId xmlns:a16="http://schemas.microsoft.com/office/drawing/2014/main" id="{878AA2EF-8E72-4462-A510-256E7852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800100"/>
            <a:ext cx="0" cy="3257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4DCE8"/>
            </a:solidFill>
            <a:prstDash val="dash"/>
          </a:ln>
        </p:spPr>
      </p:sp>
      <p:sp>
        <p:nvSpPr>
          <p:cNvPr id="28" name="event-divider-3">
            <a:extLst xmlns:a="http://schemas.openxmlformats.org/drawingml/2006/main">
              <a:ext uri="{FF2B5EF4-FFF2-40B4-BE49-F238E27FC236}">
                <a16:creationId xmlns:a16="http://schemas.microsoft.com/office/drawing/2014/main" id="{7309332C-8C66-4169-A5D8-C0147956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800100"/>
            <a:ext cx="0" cy="3257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4DCE8"/>
            </a:solidFill>
            <a:prstDash val="dash"/>
          </a:ln>
        </p:spPr>
      </p:sp>
      <p:sp>
        <p:nvSpPr>
          <p:cNvPr id="29" name="event-divider-4">
            <a:extLst xmlns:a="http://schemas.openxmlformats.org/drawingml/2006/main">
              <a:ext uri="{FF2B5EF4-FFF2-40B4-BE49-F238E27FC236}">
                <a16:creationId xmlns:a16="http://schemas.microsoft.com/office/drawing/2014/main" id="{469E3F9D-B6A0-4850-B272-1D18114E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800100"/>
            <a:ext cx="0" cy="3257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4DCE8"/>
            </a:solidFill>
            <a:prstDash val="dash"/>
          </a:ln>
        </p:spPr>
      </p:sp>
      <p:sp>
        <p:nvSpPr>
          <p:cNvPr id="30" name="callback-actions">
            <a:extLst xmlns:a="http://schemas.openxmlformats.org/drawingml/2006/main">
              <a:ext uri="{FF2B5EF4-FFF2-40B4-BE49-F238E27FC236}">
                <a16:creationId xmlns:a16="http://schemas.microsoft.com/office/drawing/2014/main" id="{E40399D4-37B1-4CE3-B4F9-BF57EC87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895350"/>
            <a:ext cx="1466850" cy="85725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811">
            <a:solidFill>
              <a:srgbClr val="E56E2E"/>
            </a:solidFill>
            <a:prstDash val="solid"/>
          </a:ln>
        </p:spPr>
        <p:txBody>
          <a:bodyPr xmlns:a="http://schemas.openxmlformats.org/drawingml/2006/main" wrap="none" lIns="38100" tIns="28575" rIns="381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4233E"/>
                </a:solidFill>
                <a:latin typeface="Arial"/>
                <a:ea typeface="Arial"/>
                <a:cs typeface="Arial"/>
              </a:rPr>
              <a:t>Read backlog / reserve /</a:t>
            </a:r>
          </a:p>
          <a:p xmlns:a="http://schemas.openxmlformats.org/drawingml/2006/main">
            <a:pPr algn="ctr">
              <a:defRPr sz="960" b="0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4233E"/>
                </a:solidFill>
                <a:latin typeface="Arial"/>
                <a:ea typeface="Arial"/>
                <a:cs typeface="Arial"/>
              </a:rPr>
              <a:t>deadline</a:t>
            </a:r>
          </a:p>
          <a:p xmlns:a="http://schemas.openxmlformats.org/drawingml/2006/main">
            <a:pPr algn="ctr">
              <a:defRPr sz="960" b="0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4233E"/>
                </a:solidFill>
                <a:latin typeface="Arial"/>
                <a:ea typeface="Arial"/>
                <a:cs typeface="Arial"/>
              </a:rPr>
              <a:t>Compute delay</a:t>
            </a:r>
          </a:p>
          <a:p xmlns:a="http://schemas.openxmlformats.org/drawingml/2006/main">
            <a:pPr algn="ctr">
              <a:defRPr sz="960" b="0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4233E"/>
                </a:solidFill>
                <a:latin typeface="Arial"/>
                <a:ea typeface="Arial"/>
                <a:cs typeface="Arial"/>
              </a:rPr>
              <a:t>Enqueue + update clock</a:t>
            </a:r>
          </a:p>
          <a:p xmlns:a="http://schemas.openxmlformats.org/drawingml/2006/main">
            <a:pPr algn="ctr">
              <a:defRPr sz="960" b="0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960" b="0">
                <a:solidFill>
                  <a:srgbClr val="14233E"/>
                </a:solidFill>
                <a:latin typeface="Arial"/>
                <a:ea typeface="Arial"/>
                <a:cs typeface="Arial"/>
              </a:rPr>
              <a:t>Schedule release</a:t>
            </a:r>
          </a:p>
        </p:txBody>
      </p:sp>
      <p:sp>
        <p:nvSpPr>
          <p:cNvPr id="31" name="draft-start-pacer">
            <a:extLst xmlns:a="http://schemas.openxmlformats.org/drawingml/2006/main">
              <a:ext uri="{FF2B5EF4-FFF2-40B4-BE49-F238E27FC236}">
                <a16:creationId xmlns:a16="http://schemas.microsoft.com/office/drawing/2014/main" id="{BFB86EF9-01F0-4A33-B42F-BAFE6B1B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981075"/>
            <a:ext cx="1466850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811">
            <a:solidFill>
              <a:srgbClr val="E56E2E"/>
            </a:solidFill>
            <a:prstDash val="solid"/>
          </a:ln>
        </p:spPr>
        <p:txBody>
          <a:bodyPr xmlns:a="http://schemas.openxmlformats.org/drawingml/2006/main" wrap="non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10" b="0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110" b="0">
                <a:solidFill>
                  <a:srgbClr val="14233E"/>
                </a:solidFill>
                <a:latin typeface="Arial"/>
                <a:ea typeface="Arial"/>
                <a:cs typeface="Arial"/>
              </a:rPr>
              <a:t>Pop oldest decision</a:t>
            </a:r>
          </a:p>
          <a:p xmlns:a="http://schemas.openxmlformats.org/drawingml/2006/main">
            <a:pPr algn="ctr">
              <a:defRPr sz="1110" b="0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110" b="0">
                <a:solidFill>
                  <a:srgbClr val="14233E"/>
                </a:solidFill>
                <a:latin typeface="Arial"/>
                <a:ea typeface="Arial"/>
                <a:cs typeface="Arial"/>
              </a:rPr>
              <a:t>Rebase clock</a:t>
            </a:r>
          </a:p>
          <a:p xmlns:a="http://schemas.openxmlformats.org/drawingml/2006/main">
            <a:pPr algn="ctr">
              <a:defRPr sz="1110" b="0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110" b="0">
                <a:solidFill>
                  <a:srgbClr val="14233E"/>
                </a:solidFill>
                <a:latin typeface="Arial"/>
                <a:ea typeface="Arial"/>
                <a:cs typeface="Arial"/>
              </a:rPr>
              <a:t>Refresh reserve</a:t>
            </a:r>
          </a:p>
        </p:txBody>
      </p:sp>
      <p:sp>
        <p:nvSpPr>
          <p:cNvPr id="32" name="draft-start-worker">
            <a:extLst xmlns:a="http://schemas.openxmlformats.org/drawingml/2006/main">
              <a:ext uri="{FF2B5EF4-FFF2-40B4-BE49-F238E27FC236}">
                <a16:creationId xmlns:a16="http://schemas.microsoft.com/office/drawing/2014/main" id="{E11827D3-89D7-4DDE-B8F6-1567AC91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90750"/>
            <a:ext cx="1238250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4233E"/>
            </a:solidFill>
            <a:prstDash val="solid"/>
          </a:ln>
        </p:spPr>
        <p:txBody>
          <a:bodyPr xmlns:a="http://schemas.openxmlformats.org/drawingml/2006/main" wrap="non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33E"/>
                </a:solidFill>
                <a:latin typeface="Arial"/>
                <a:ea typeface="Arial"/>
                <a:cs typeface="Arial"/>
              </a:rPr>
              <a:t>Draft starts</a:t>
            </a:r>
          </a:p>
        </p:txBody>
      </p:sp>
      <p:cxnSp>
        <p:nvCxnSpPr>
          <p:cNvPr id="83" name=""/>
          <p:cNvCxnSpPr>
            <a:stCxn xmlns:a="http://schemas.openxmlformats.org/drawingml/2006/main" id="32" idx="0"/>
            <a:endCxn xmlns:a="http://schemas.openxmlformats.org/drawingml/2006/main" id="31" idx="2"/>
          </p:cNvCxnSpPr>
          <p:nvPr/>
        </p:nvCxnSpPr>
        <p:spPr>
          <a:xfrm xmlns:a="http://schemas.openxmlformats.org/drawingml/2006/main" flipV="1">
            <a:off x="4505325" y="166687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E56E2E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4" name="optional-node-worker">
            <a:extLst xmlns:a="http://schemas.openxmlformats.org/drawingml/2006/main">
              <a:ext uri="{FF2B5EF4-FFF2-40B4-BE49-F238E27FC236}">
                <a16:creationId xmlns:a16="http://schemas.microsoft.com/office/drawing/2014/main" id="{2C42E5E6-DE0C-43BD-8EE6-5038DE26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076450"/>
            <a:ext cx="1466850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4233E"/>
            </a:solidFill>
            <a:prstDash val="solid"/>
          </a:ln>
        </p:spPr>
        <p:txBody>
          <a:bodyPr xmlns:a="http://schemas.openxmlformats.org/drawingml/2006/main" wrap="non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40" b="0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140" b="0">
                <a:solidFill>
                  <a:srgbClr val="14233E"/>
                </a:solidFill>
                <a:latin typeface="Arial"/>
                <a:ea typeface="Arial"/>
                <a:cs typeface="Arial"/>
              </a:rPr>
              <a:t>Build suffix</a:t>
            </a:r>
          </a:p>
          <a:p xmlns:a="http://schemas.openxmlformats.org/drawingml/2006/main">
            <a:pPr algn="ctr">
              <a:defRPr sz="1140" b="0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140" b="0">
                <a:solidFill>
                  <a:srgbClr val="14233E"/>
                </a:solidFill>
                <a:latin typeface="Arial"/>
                <a:ea typeface="Arial"/>
                <a:cs typeface="Arial"/>
              </a:rPr>
              <a:t>Reread live budget</a:t>
            </a:r>
          </a:p>
        </p:txBody>
      </p:sp>
      <p:sp>
        <p:nvSpPr>
          <p:cNvPr id="35" name="optional-node-policy">
            <a:extLst xmlns:a="http://schemas.openxmlformats.org/drawingml/2006/main">
              <a:ext uri="{FF2B5EF4-FFF2-40B4-BE49-F238E27FC236}">
                <a16:creationId xmlns:a16="http://schemas.microsoft.com/office/drawing/2014/main" id="{6665957E-E074-4296-89A8-CC60DC85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267075"/>
            <a:ext cx="123825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76D2"/>
            </a:solidFill>
            <a:prstDash val="solid"/>
          </a:ln>
        </p:spPr>
        <p:txBody>
          <a:bodyPr xmlns:a="http://schemas.openxmlformats.org/drawingml/2006/main" wrap="non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6D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6D2"/>
                </a:solidFill>
                <a:latin typeface="Arial"/>
                <a:ea typeface="Arial"/>
                <a:cs typeface="Arial"/>
              </a:rPr>
              <a:t>Admit + watchdog</a:t>
            </a:r>
          </a:p>
          <a:p xmlns:a="http://schemas.openxmlformats.org/drawingml/2006/main">
            <a:pPr algn="ctr">
              <a:defRPr sz="975" b="1">
                <a:solidFill>
                  <a:srgbClr val="2476D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6D2"/>
                </a:solidFill>
                <a:latin typeface="Arial"/>
                <a:ea typeface="Arial"/>
                <a:cs typeface="Arial"/>
              </a:rPr>
              <a:t>or skip</a:t>
            </a:r>
          </a:p>
        </p:txBody>
      </p:sp>
      <p:cxnSp>
        <p:nvCxnSpPr>
          <p:cNvPr id="86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6267450" y="2667000"/>
            <a:ext cx="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476D2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37" name="optional-repeat">
            <a:extLst xmlns:a="http://schemas.openxmlformats.org/drawingml/2006/main">
              <a:ext uri="{FF2B5EF4-FFF2-40B4-BE49-F238E27FC236}">
                <a16:creationId xmlns:a16="http://schemas.microsoft.com/office/drawing/2014/main" id="{87E19A0A-A54B-492D-872B-5263D296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86050"/>
            <a:ext cx="1524000" cy="238125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EFF5FE"/>
          </a:solidFill>
          <a:ln xmlns:a="http://schemas.openxmlformats.org/drawingml/2006/main" w="0">
            <a:solidFill>
              <a:srgbClr val="EFF5FE"/>
            </a:solidFill>
            <a:prstDash val="solid"/>
          </a:ln>
        </p:spPr>
        <p:txBody>
          <a:bodyPr xmlns:a="http://schemas.openxmlformats.org/drawingml/2006/main" wrap="non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476D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476D2"/>
                </a:solidFill>
                <a:latin typeface="Arial"/>
                <a:ea typeface="Arial"/>
                <a:cs typeface="Arial"/>
              </a:rPr>
              <a:t>repeat per optional node</a:t>
            </a:r>
          </a:p>
        </p:txBody>
      </p:sp>
      <p:sp>
        <p:nvSpPr>
          <p:cNvPr id="38" name="optional-state">
            <a:extLst xmlns:a="http://schemas.openxmlformats.org/drawingml/2006/main">
              <a:ext uri="{FF2B5EF4-FFF2-40B4-BE49-F238E27FC236}">
                <a16:creationId xmlns:a16="http://schemas.microsoft.com/office/drawing/2014/main" id="{53852DA0-2AE8-43D2-9B44-03247918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81425"/>
            <a:ext cx="14573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2476D2"/>
                </a:solidFill>
                <a:latin typeface="Arial"/>
                <a:ea typeface="Arial"/>
                <a:cs typeface="Arial"/>
              </a:defRPr>
            </a:pPr>
            <a:r>
              <a:rPr sz="885" b="0">
                <a:solidFill>
                  <a:srgbClr val="2476D2"/>
                </a:solidFill>
                <a:latin typeface="Arial"/>
                <a:ea typeface="Arial"/>
                <a:cs typeface="Arial"/>
              </a:rPr>
              <a:t>first rejection may stick</a:t>
            </a:r>
          </a:p>
        </p:txBody>
      </p:sp>
      <p:sp>
        <p:nvSpPr>
          <p:cNvPr id="39" name="completion-pacer">
            <a:extLst xmlns:a="http://schemas.openxmlformats.org/drawingml/2006/main">
              <a:ext uri="{FF2B5EF4-FFF2-40B4-BE49-F238E27FC236}">
                <a16:creationId xmlns:a16="http://schemas.microsoft.com/office/drawing/2014/main" id="{4AA9D5C9-4070-478E-A8C5-94913C40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085850"/>
            <a:ext cx="12382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6E2E"/>
            </a:solidFill>
            <a:prstDash val="solid"/>
          </a:ln>
        </p:spPr>
        <p:txBody>
          <a:bodyPr xmlns:a="http://schemas.openxmlformats.org/drawingml/2006/main" wrap="non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233E"/>
                </a:solidFill>
                <a:latin typeface="Arial"/>
                <a:ea typeface="Arial"/>
                <a:cs typeface="Arial"/>
              </a:rPr>
              <a:t>Update burst</a:t>
            </a:r>
          </a:p>
          <a:p xmlns:a="http://schemas.openxmlformats.org/drawingml/2006/main">
            <a:pPr algn="ctr">
              <a:defRPr sz="1125" b="0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233E"/>
                </a:solidFill>
                <a:latin typeface="Arial"/>
                <a:ea typeface="Arial"/>
                <a:cs typeface="Arial"/>
              </a:rPr>
              <a:t>size maximum</a:t>
            </a:r>
          </a:p>
        </p:txBody>
      </p:sp>
      <p:sp>
        <p:nvSpPr>
          <p:cNvPr id="40" name="completion-worker">
            <a:extLst xmlns:a="http://schemas.openxmlformats.org/drawingml/2006/main">
              <a:ext uri="{FF2B5EF4-FFF2-40B4-BE49-F238E27FC236}">
                <a16:creationId xmlns:a16="http://schemas.microsoft.com/office/drawing/2014/main" id="{0DA426E4-809F-4541-9E7C-C7D86FED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52650"/>
            <a:ext cx="123825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4233E"/>
            </a:solidFill>
            <a:prstDash val="solid"/>
          </a:ln>
        </p:spPr>
        <p:txBody>
          <a:bodyPr xmlns:a="http://schemas.openxmlformats.org/drawingml/2006/main" wrap="non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4233E"/>
                </a:solidFill>
                <a:latin typeface="Arial"/>
                <a:ea typeface="Arial"/>
                <a:cs typeface="Arial"/>
              </a:rPr>
              <a:t>Saved-Draft</a:t>
            </a:r>
          </a:p>
          <a:p xmlns:a="http://schemas.openxmlformats.org/drawingml/2006/main">
            <a:pPr algn="ctr">
              <a:defRPr sz="1088" b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4233E"/>
                </a:solidFill>
                <a:latin typeface="Arial"/>
                <a:ea typeface="Arial"/>
                <a:cs typeface="Arial"/>
              </a:rPr>
              <a:t>completion</a:t>
            </a:r>
          </a:p>
        </p:txBody>
      </p:sp>
      <p:sp>
        <p:nvSpPr>
          <p:cNvPr id="41" name="completion-model">
            <a:extLst xmlns:a="http://schemas.openxmlformats.org/drawingml/2006/main">
              <a:ext uri="{FF2B5EF4-FFF2-40B4-BE49-F238E27FC236}">
                <a16:creationId xmlns:a16="http://schemas.microsoft.com/office/drawing/2014/main" id="{326A62C4-CCA3-4A69-91C2-855636A1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67075"/>
            <a:ext cx="123825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2476D2"/>
            </a:solidFill>
            <a:prstDash val="solid"/>
          </a:ln>
        </p:spPr>
        <p:txBody>
          <a:bodyPr xmlns:a="http://schemas.openxmlformats.org/drawingml/2006/main" wrap="non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40" b="0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140" b="0">
                <a:solidFill>
                  <a:srgbClr val="14233E"/>
                </a:solidFill>
                <a:latin typeface="Arial"/>
                <a:ea typeface="Arial"/>
                <a:cs typeface="Arial"/>
              </a:rPr>
              <a:t>Update learned</a:t>
            </a:r>
          </a:p>
          <a:p xmlns:a="http://schemas.openxmlformats.org/drawingml/2006/main">
            <a:pPr algn="ctr">
              <a:defRPr sz="1140" b="0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140" b="0">
                <a:solidFill>
                  <a:srgbClr val="14233E"/>
                </a:solidFill>
                <a:latin typeface="Arial"/>
                <a:ea typeface="Arial"/>
                <a:cs typeface="Arial"/>
              </a:rPr>
              <a:t>duration model</a:t>
            </a:r>
          </a:p>
        </p:txBody>
      </p:sp>
      <p:cxnSp>
        <p:nvCxnSpPr>
          <p:cNvPr id="92" name=""/>
          <p:cNvCxnSpPr>
            <a:stCxn xmlns:a="http://schemas.openxmlformats.org/drawingml/2006/main" id="40" idx="0"/>
            <a:endCxn xmlns:a="http://schemas.openxmlformats.org/drawingml/2006/main" id="39" idx="2"/>
          </p:cNvCxnSpPr>
          <p:nvPr/>
        </p:nvCxnSpPr>
        <p:spPr>
          <a:xfrm xmlns:a="http://schemas.openxmlformats.org/drawingml/2006/main" flipV="1">
            <a:off x="8029575" y="158115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52647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3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8029575" y="2667000"/>
            <a:ext cx="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52647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4" name="drain-pacer">
            <a:extLst xmlns:a="http://schemas.openxmlformats.org/drawingml/2006/main">
              <a:ext uri="{FF2B5EF4-FFF2-40B4-BE49-F238E27FC236}">
                <a16:creationId xmlns:a16="http://schemas.microsoft.com/office/drawing/2014/main" id="{F36DB218-120B-46D4-A9CA-C20BBCAD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085850"/>
            <a:ext cx="12382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56E2E"/>
            </a:solidFill>
            <a:prstDash val="solid"/>
          </a:ln>
        </p:spPr>
        <p:txBody>
          <a:bodyPr xmlns:a="http://schemas.openxmlformats.org/drawingml/2006/main" wrap="non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40" b="0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140" b="0">
                <a:solidFill>
                  <a:srgbClr val="14233E"/>
                </a:solidFill>
                <a:latin typeface="Arial"/>
                <a:ea typeface="Arial"/>
                <a:cs typeface="Arial"/>
              </a:rPr>
              <a:t>Clear pacing</a:t>
            </a:r>
          </a:p>
          <a:p xmlns:a="http://schemas.openxmlformats.org/drawingml/2006/main">
            <a:pPr algn="ctr">
              <a:defRPr sz="1140" b="0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140" b="0">
                <a:solidFill>
                  <a:srgbClr val="14233E"/>
                </a:solidFill>
                <a:latin typeface="Arial"/>
                <a:ea typeface="Arial"/>
                <a:cs typeface="Arial"/>
              </a:rPr>
              <a:t>session</a:t>
            </a:r>
          </a:p>
        </p:txBody>
      </p:sp>
      <p:sp>
        <p:nvSpPr>
          <p:cNvPr id="45" name="drain-worker">
            <a:extLst xmlns:a="http://schemas.openxmlformats.org/drawingml/2006/main">
              <a:ext uri="{FF2B5EF4-FFF2-40B4-BE49-F238E27FC236}">
                <a16:creationId xmlns:a16="http://schemas.microsoft.com/office/drawing/2014/main" id="{E9A53685-2546-4C0F-8C27-CC2B25DF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190750"/>
            <a:ext cx="1238250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4233E"/>
            </a:solidFill>
            <a:prstDash val="solid"/>
          </a:ln>
        </p:spPr>
        <p:txBody>
          <a:bodyPr xmlns:a="http://schemas.openxmlformats.org/drawingml/2006/main" wrap="non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33E"/>
                </a:solidFill>
                <a:latin typeface="Arial"/>
                <a:ea typeface="Arial"/>
                <a:cs typeface="Arial"/>
              </a:rPr>
              <a:t>Queue empty</a:t>
            </a:r>
          </a:p>
        </p:txBody>
      </p:sp>
      <p:sp>
        <p:nvSpPr>
          <p:cNvPr id="46" name="drain-policy">
            <a:extLst xmlns:a="http://schemas.openxmlformats.org/drawingml/2006/main">
              <a:ext uri="{FF2B5EF4-FFF2-40B4-BE49-F238E27FC236}">
                <a16:creationId xmlns:a16="http://schemas.microsoft.com/office/drawing/2014/main" id="{D76F7D4D-8256-4EDB-85A7-8AEFBB62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181350"/>
            <a:ext cx="142875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2476D2"/>
            </a:solidFill>
            <a:prstDash val="solid"/>
          </a:ln>
        </p:spPr>
        <p:txBody>
          <a:bodyPr xmlns:a="http://schemas.openxmlformats.org/drawingml/2006/main" wrap="non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90" b="0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14233E"/>
                </a:solidFill>
                <a:latin typeface="Arial"/>
                <a:ea typeface="Arial"/>
                <a:cs typeface="Arial"/>
              </a:rPr>
              <a:t>Clear sticky</a:t>
            </a:r>
          </a:p>
          <a:p xmlns:a="http://schemas.openxmlformats.org/drawingml/2006/main">
            <a:pPr algn="ctr">
              <a:defRPr sz="990" b="0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14233E"/>
                </a:solidFill>
                <a:latin typeface="Arial"/>
                <a:ea typeface="Arial"/>
                <a:cs typeface="Arial"/>
              </a:rPr>
              <a:t>demotions</a:t>
            </a:r>
          </a:p>
          <a:p xmlns:a="http://schemas.openxmlformats.org/drawingml/2006/main">
            <a:pPr algn="ctr">
              <a:defRPr sz="990" b="0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14233E"/>
                </a:solidFill>
                <a:latin typeface="Arial"/>
                <a:ea typeface="Arial"/>
                <a:cs typeface="Arial"/>
              </a:rPr>
              <a:t>Retain learned</a:t>
            </a:r>
          </a:p>
          <a:p xmlns:a="http://schemas.openxmlformats.org/drawingml/2006/main">
            <a:pPr algn="ctr">
              <a:defRPr sz="990" b="0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14233E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cxnSp>
        <p:nvCxnSpPr>
          <p:cNvPr id="97" name=""/>
          <p:cNvCxnSpPr>
            <a:stCxn xmlns:a="http://schemas.openxmlformats.org/drawingml/2006/main" id="45" idx="0"/>
            <a:endCxn xmlns:a="http://schemas.openxmlformats.org/drawingml/2006/main" id="44" idx="2"/>
          </p:cNvCxnSpPr>
          <p:nvPr/>
        </p:nvCxnSpPr>
        <p:spPr>
          <a:xfrm xmlns:a="http://schemas.openxmlformats.org/drawingml/2006/main" flipV="1">
            <a:off x="9791700" y="1581150"/>
            <a:ext cx="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52647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45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9791700" y="26289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52647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9" name="burst-state-legend">
            <a:extLst xmlns:a="http://schemas.openxmlformats.org/drawingml/2006/main">
              <a:ext uri="{FF2B5EF4-FFF2-40B4-BE49-F238E27FC236}">
                <a16:creationId xmlns:a16="http://schemas.microsoft.com/office/drawing/2014/main" id="{06F037E7-6E5B-4802-9909-0B11053B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67200"/>
            <a:ext cx="3857625" cy="28575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DFE7F3"/>
          </a:solidFill>
          <a:ln xmlns:a="http://schemas.openxmlformats.org/drawingml/2006/main" w="8573">
            <a:solidFill>
              <a:srgbClr val="D4DCE8"/>
            </a:solidFill>
            <a:prstDash val="solid"/>
          </a:ln>
        </p:spPr>
        <p:txBody>
          <a:bodyPr xmlns:a="http://schemas.openxmlformats.org/drawingml/2006/main" wrap="non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65" b="1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65" b="1">
                <a:solidFill>
                  <a:srgbClr val="526477"/>
                </a:solidFill>
                <a:latin typeface="Arial"/>
                <a:ea typeface="Arial"/>
                <a:cs typeface="Arial"/>
              </a:rPr>
              <a:t>BURST-LOCAL STATE  •  cleared at queue drain</a:t>
            </a:r>
          </a:p>
        </p:txBody>
      </p:sp>
      <p:sp>
        <p:nvSpPr>
          <p:cNvPr id="50" name="learned-state-legend">
            <a:extLst xmlns:a="http://schemas.openxmlformats.org/drawingml/2006/main">
              <a:ext uri="{FF2B5EF4-FFF2-40B4-BE49-F238E27FC236}">
                <a16:creationId xmlns:a16="http://schemas.microsoft.com/office/drawing/2014/main" id="{1FB9FC6B-CF41-4CED-BC05-04F87A1C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3409950" cy="28575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EFF5FE"/>
          </a:solidFill>
          <a:ln xmlns:a="http://schemas.openxmlformats.org/drawingml/2006/main" w="8573">
            <a:solidFill>
              <a:srgbClr val="2476D2"/>
            </a:solidFill>
            <a:prstDash val="solid"/>
          </a:ln>
        </p:spPr>
        <p:txBody>
          <a:bodyPr xmlns:a="http://schemas.openxmlformats.org/drawingml/2006/main" wrap="none" lIns="66675" tIns="47625" rIns="66675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65" b="1">
                <a:solidFill>
                  <a:srgbClr val="2476D2"/>
                </a:solidFill>
                <a:latin typeface="Arial"/>
                <a:ea typeface="Arial"/>
                <a:cs typeface="Arial"/>
              </a:defRPr>
            </a:pPr>
            <a:r>
              <a:rPr sz="1065" b="1">
                <a:solidFill>
                  <a:srgbClr val="2476D2"/>
                </a:solidFill>
                <a:latin typeface="Arial"/>
                <a:ea typeface="Arial"/>
                <a:cs typeface="Arial"/>
              </a:rPr>
              <a:t>LEARNED DURATION MODEL  •  retained</a:t>
            </a:r>
          </a:p>
        </p:txBody>
      </p:sp>
    </p:spTree>
    <p:extLst>
      <p:ext uri="{BB962C8B-B14F-4D97-AF65-F5344CB8AC3E}">
        <p14:creationId xmlns:p14="http://schemas.microsoft.com/office/powerpoint/2010/main" val="66345627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2026-08-11T08:34:17.0900000Z</dcterms:created>
  <dcterms:modified xsi:type="dcterms:W3CDTF">2026-08-11T08:34:17.0900000Z</dcterms:modified>
</coreProperties>
</file>