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972800" cy="4718304"/>
  <p:notesSz cx="4718304" cy="109728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64592"/>
            <a:ext cx="2395728" cy="1883664"/>
          </a:xfrm>
          <a:prstGeom prst="roundRect">
            <a:avLst>
              <a:gd name="adj" fmla="val 2427"/>
            </a:avLst>
          </a:prstGeom>
          <a:solidFill>
            <a:srgbClr val="F7F9FC"/>
          </a:solidFill>
          <a:ln w="9525">
            <a:solidFill>
              <a:srgbClr val="D4DC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64592"/>
            <a:ext cx="2395728" cy="310896"/>
          </a:xfrm>
          <a:prstGeom prst="roundRect">
            <a:avLst>
              <a:gd name="adj" fmla="val 14706"/>
            </a:avLst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320040"/>
            <a:ext cx="2395728" cy="155448"/>
          </a:xfrm>
          <a:prstGeom prst="rect">
            <a:avLst/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" y="475488"/>
            <a:ext cx="2395728" cy="0"/>
          </a:xfrm>
          <a:prstGeom prst="line">
            <a:avLst/>
          </a:prstGeom>
          <a:noFill/>
          <a:ln w="9525">
            <a:solidFill>
              <a:srgbClr val="D4DCE8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 txBox="1"/>
          <p:nvPr/>
        </p:nvSpPr>
        <p:spPr>
          <a:xfrm>
            <a:off x="274320" y="164592"/>
            <a:ext cx="2395728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423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Parallel captures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2944368" y="164592"/>
            <a:ext cx="2633472" cy="1883664"/>
          </a:xfrm>
          <a:prstGeom prst="roundRect">
            <a:avLst>
              <a:gd name="adj" fmla="val 2427"/>
            </a:avLst>
          </a:prstGeom>
          <a:solidFill>
            <a:srgbClr val="F7F9FC"/>
          </a:solidFill>
          <a:ln w="9525">
            <a:solidFill>
              <a:srgbClr val="D4DC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944368" y="164592"/>
            <a:ext cx="2633472" cy="310896"/>
          </a:xfrm>
          <a:prstGeom prst="roundRect">
            <a:avLst>
              <a:gd name="adj" fmla="val 14706"/>
            </a:avLst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944368" y="320040"/>
            <a:ext cx="2633472" cy="155448"/>
          </a:xfrm>
          <a:prstGeom prst="rect">
            <a:avLst/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44368" y="475488"/>
            <a:ext cx="2633472" cy="0"/>
          </a:xfrm>
          <a:prstGeom prst="line">
            <a:avLst/>
          </a:prstGeom>
          <a:noFill/>
          <a:ln w="9525">
            <a:solidFill>
              <a:srgbClr val="D4DCE8"/>
            </a:solidFill>
            <a:prstDash val="solid"/>
            <a:headEnd type="none"/>
            <a:tailEnd type="none"/>
          </a:ln>
        </p:spPr>
      </p:sp>
      <p:sp>
        <p:nvSpPr>
          <p:cNvPr id="11" name="Text 9"/>
          <p:cNvSpPr txBox="1"/>
          <p:nvPr/>
        </p:nvSpPr>
        <p:spPr>
          <a:xfrm>
            <a:off x="2944368" y="164592"/>
            <a:ext cx="2633472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423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 Draft Sequences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852160" y="164592"/>
            <a:ext cx="4846320" cy="1883664"/>
          </a:xfrm>
          <a:prstGeom prst="roundRect">
            <a:avLst>
              <a:gd name="adj" fmla="val 2427"/>
            </a:avLst>
          </a:prstGeom>
          <a:solidFill>
            <a:srgbClr val="F7F9FC"/>
          </a:solidFill>
          <a:ln w="9525">
            <a:solidFill>
              <a:srgbClr val="D4DCE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852160" y="164592"/>
            <a:ext cx="4846320" cy="310896"/>
          </a:xfrm>
          <a:prstGeom prst="roundRect">
            <a:avLst>
              <a:gd name="adj" fmla="val 14706"/>
            </a:avLst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852160" y="320040"/>
            <a:ext cx="4846320" cy="155448"/>
          </a:xfrm>
          <a:prstGeom prst="rect">
            <a:avLst/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852160" y="475488"/>
            <a:ext cx="4846320" cy="0"/>
          </a:xfrm>
          <a:prstGeom prst="line">
            <a:avLst/>
          </a:prstGeom>
          <a:noFill/>
          <a:ln w="9525">
            <a:solidFill>
              <a:srgbClr val="D4DCE8"/>
            </a:solidFill>
            <a:prstDash val="solid"/>
            <a:headEnd type="none"/>
            <a:tailEnd type="none"/>
          </a:ln>
        </p:spPr>
      </p:sp>
      <p:sp>
        <p:nvSpPr>
          <p:cNvPr id="16" name="Text 14"/>
          <p:cNvSpPr txBox="1"/>
          <p:nvPr/>
        </p:nvSpPr>
        <p:spPr>
          <a:xfrm>
            <a:off x="5504688" y="164592"/>
            <a:ext cx="4846320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423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active Draft Sequence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274320" y="2798064"/>
            <a:ext cx="10424160" cy="1755648"/>
          </a:xfrm>
          <a:prstGeom prst="roundRect">
            <a:avLst>
              <a:gd name="adj" fmla="val 2604"/>
            </a:avLst>
          </a:prstGeom>
          <a:solidFill>
            <a:srgbClr val="F2F5FA"/>
          </a:solidFill>
          <a:ln w="12700">
            <a:solidFill>
              <a:srgbClr val="14233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74320" y="2798064"/>
            <a:ext cx="10424160" cy="310896"/>
          </a:xfrm>
          <a:prstGeom prst="roundRect">
            <a:avLst>
              <a:gd name="adj" fmla="val 14706"/>
            </a:avLst>
          </a:prstGeom>
          <a:solidFill>
            <a:srgbClr val="DFE7F3"/>
          </a:solidFill>
          <a:ln w="12700">
            <a:solidFill>
              <a:srgbClr val="DFE7F3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74320" y="2953512"/>
            <a:ext cx="10424160" cy="155448"/>
          </a:xfrm>
          <a:prstGeom prst="rect">
            <a:avLst/>
          </a:prstGeom>
          <a:solidFill>
            <a:srgbClr val="DFE7F3"/>
          </a:solidFill>
          <a:ln w="12700">
            <a:solidFill>
              <a:srgbClr val="DFE7F3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74320" y="3108960"/>
            <a:ext cx="10424160" cy="0"/>
          </a:xfrm>
          <a:prstGeom prst="line">
            <a:avLst/>
          </a:prstGeom>
          <a:noFill/>
          <a:ln w="12700">
            <a:solidFill>
              <a:srgbClr val="14233E"/>
            </a:solidFill>
            <a:prstDash val="solid"/>
            <a:headEnd type="none"/>
            <a:tailEnd type="none"/>
          </a:ln>
        </p:spPr>
      </p:sp>
      <p:sp>
        <p:nvSpPr>
          <p:cNvPr id="21" name="Text 19"/>
          <p:cNvSpPr txBox="1"/>
          <p:nvPr/>
        </p:nvSpPr>
        <p:spPr>
          <a:xfrm>
            <a:off x="274320" y="2798064"/>
            <a:ext cx="10424160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423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Budget-Aware Draft Controller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9238698" y="219456"/>
            <a:ext cx="566928" cy="201168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0795">
            <a:solidFill>
              <a:srgbClr val="2476D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238698" y="219456"/>
            <a:ext cx="566928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4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</a:t>
            </a:r>
            <a:pPr algn="ctr" indent="0" marL="0">
              <a:buNone/>
            </a:pPr>
            <a:r>
              <a:rPr lang="en-US" sz="1050" b="1" i="1" dirty="0">
                <a:solidFill>
                  <a:srgbClr val="24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758952"/>
            <a:ext cx="1298448" cy="347472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7200" y="758952"/>
            <a:ext cx="1298448" cy="3474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23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 </a:t>
            </a:r>
            <a:pPr algn="ctr" indent="0" marL="0">
              <a:buNone/>
            </a:pPr>
            <a:r>
              <a:rPr lang="en-US" sz="1250" i="1" dirty="0">
                <a:solidFill>
                  <a:srgbClr val="1423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713232" y="1106424"/>
            <a:ext cx="1298448" cy="347472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13232" y="1106424"/>
            <a:ext cx="1298448" cy="3474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23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 </a:t>
            </a:r>
            <a:pPr algn="ctr" indent="0" marL="0">
              <a:buNone/>
            </a:pPr>
            <a:r>
              <a:rPr lang="en-US" sz="1250" i="1" dirty="0">
                <a:solidFill>
                  <a:srgbClr val="1423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pPr algn="ctr" indent="0" marL="0">
              <a:buNone/>
            </a:pPr>
            <a:r>
              <a:rPr lang="en-US" sz="1250" dirty="0">
                <a:solidFill>
                  <a:srgbClr val="1423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1097280" y="1453896"/>
            <a:ext cx="1298448" cy="347472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097280" y="1453896"/>
            <a:ext cx="1298448" cy="3474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423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 </a:t>
            </a:r>
            <a:pPr algn="ctr" indent="0" marL="0">
              <a:buNone/>
            </a:pPr>
            <a:r>
              <a:rPr lang="en-US" sz="1250" i="1" dirty="0">
                <a:solidFill>
                  <a:srgbClr val="1423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pPr algn="ctr" indent="0" marL="0">
              <a:buNone/>
            </a:pPr>
            <a:r>
              <a:rPr lang="en-US" sz="1250" dirty="0">
                <a:solidFill>
                  <a:srgbClr val="1423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1755648" y="932688"/>
            <a:ext cx="804672" cy="0"/>
          </a:xfrm>
          <a:prstGeom prst="line">
            <a:avLst/>
          </a:prstGeom>
          <a:noFill/>
          <a:ln w="13335">
            <a:solidFill>
              <a:srgbClr val="14233E"/>
            </a:solidFill>
            <a:prstDash val="solid"/>
            <a:headEnd type="none"/>
            <a:tailEnd type="none"/>
          </a:ln>
        </p:spPr>
      </p:sp>
      <p:sp>
        <p:nvSpPr>
          <p:cNvPr id="31" name="Shape 29"/>
          <p:cNvSpPr/>
          <p:nvPr/>
        </p:nvSpPr>
        <p:spPr>
          <a:xfrm>
            <a:off x="2395728" y="1627632"/>
            <a:ext cx="164592" cy="0"/>
          </a:xfrm>
          <a:prstGeom prst="line">
            <a:avLst/>
          </a:prstGeom>
          <a:noFill/>
          <a:ln w="13335">
            <a:solidFill>
              <a:srgbClr val="14233E"/>
            </a:solidFill>
            <a:prstDash val="solid"/>
            <a:headEnd type="none"/>
            <a:tailEnd type="none"/>
          </a:ln>
        </p:spPr>
      </p:sp>
      <p:sp>
        <p:nvSpPr>
          <p:cNvPr id="32" name="Shape 30"/>
          <p:cNvSpPr/>
          <p:nvPr/>
        </p:nvSpPr>
        <p:spPr>
          <a:xfrm>
            <a:off x="2560320" y="932688"/>
            <a:ext cx="0" cy="694944"/>
          </a:xfrm>
          <a:prstGeom prst="line">
            <a:avLst/>
          </a:prstGeom>
          <a:noFill/>
          <a:ln w="13335">
            <a:solidFill>
              <a:srgbClr val="14233E"/>
            </a:solidFill>
            <a:prstDash val="solid"/>
            <a:headEnd type="none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2011680" y="1280160"/>
            <a:ext cx="1078992" cy="0"/>
          </a:xfrm>
          <a:prstGeom prst="line">
            <a:avLst/>
          </a:prstGeom>
          <a:noFill/>
          <a:ln w="17780">
            <a:solidFill>
              <a:srgbClr val="14233E"/>
            </a:solidFill>
            <a:prstDash val="solid"/>
            <a:headEnd type="none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2514600" y="1234440"/>
            <a:ext cx="91440" cy="91440"/>
          </a:xfrm>
          <a:prstGeom prst="ellipse">
            <a:avLst/>
          </a:prstGeom>
          <a:solidFill>
            <a:srgbClr val="14233E"/>
          </a:solidFill>
          <a:ln w="6350">
            <a:solidFill>
              <a:srgbClr val="14233E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944368" y="530352"/>
            <a:ext cx="263347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373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served in capture order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090672" y="914400"/>
            <a:ext cx="2340864" cy="731520"/>
          </a:xfrm>
          <a:prstGeom prst="roundRect">
            <a:avLst>
              <a:gd name="adj" fmla="val 6250"/>
            </a:avLst>
          </a:prstGeom>
          <a:solidFill>
            <a:srgbClr val="ECF1F8"/>
          </a:solidFill>
          <a:ln w="13970">
            <a:solidFill>
              <a:srgbClr val="14233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172968" y="1069848"/>
            <a:ext cx="384048" cy="420624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1430">
            <a:solidFill>
              <a:srgbClr val="526477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3639312" y="1069848"/>
            <a:ext cx="813816" cy="420624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14233E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3639312" y="1069848"/>
            <a:ext cx="813816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423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</a:t>
            </a:r>
            <a:pPr algn="ctr" indent="0" marL="0">
              <a:buNone/>
            </a:pPr>
            <a:r>
              <a:rPr lang="en-US" sz="1200" i="1" dirty="0">
                <a:solidFill>
                  <a:srgbClr val="1423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pPr algn="ctr" indent="0" marL="0">
              <a:buNone/>
            </a:pPr>
            <a:r>
              <a:rPr lang="en-US" sz="1200" dirty="0">
                <a:solidFill>
                  <a:srgbClr val="1423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535424" y="1069848"/>
            <a:ext cx="813816" cy="420624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14233E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4535424" y="1069848"/>
            <a:ext cx="813816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423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</a:t>
            </a:r>
            <a:pPr algn="ctr" indent="0" marL="0">
              <a:buNone/>
            </a:pPr>
            <a:r>
              <a:rPr lang="en-US" sz="1200" i="1" dirty="0">
                <a:solidFill>
                  <a:srgbClr val="1423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pPr algn="ctr" indent="0" marL="0">
              <a:buNone/>
            </a:pPr>
            <a:r>
              <a:rPr lang="en-US" sz="1200" dirty="0">
                <a:solidFill>
                  <a:srgbClr val="1423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5431536" y="1280160"/>
            <a:ext cx="676656" cy="0"/>
          </a:xfrm>
          <a:prstGeom prst="line">
            <a:avLst/>
          </a:prstGeom>
          <a:noFill/>
          <a:ln w="17780">
            <a:solidFill>
              <a:srgbClr val="14233E"/>
            </a:solidFill>
            <a:prstDash val="solid"/>
            <a:headEnd type="none"/>
            <a:tailEnd type="triangle"/>
          </a:ln>
        </p:spPr>
      </p:sp>
      <p:sp>
        <p:nvSpPr>
          <p:cNvPr id="43" name="Text 41"/>
          <p:cNvSpPr txBox="1"/>
          <p:nvPr/>
        </p:nvSpPr>
        <p:spPr>
          <a:xfrm>
            <a:off x="6108192" y="530352"/>
            <a:ext cx="2029968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4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image processing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108192" y="786384"/>
            <a:ext cx="2029968" cy="987552"/>
          </a:xfrm>
          <a:prstGeom prst="roundRect">
            <a:avLst>
              <a:gd name="adj" fmla="val 4630"/>
            </a:avLst>
          </a:prstGeom>
          <a:solidFill>
            <a:srgbClr val="EFF5FE"/>
          </a:solidFill>
          <a:ln w="13335">
            <a:solidFill>
              <a:srgbClr val="2476D2"/>
            </a:solidFill>
            <a:prstDash val="dash"/>
          </a:ln>
        </p:spPr>
      </p:sp>
      <p:pic>
        <p:nvPicPr>
          <p:cNvPr id="45" name="Image 0" descr="optional multiframe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36208" y="914400"/>
            <a:ext cx="731520" cy="731520"/>
          </a:xfrm>
          <a:prstGeom prst="rect">
            <a:avLst/>
          </a:prstGeom>
        </p:spPr>
      </p:pic>
      <p:sp>
        <p:nvSpPr>
          <p:cNvPr id="46" name="Shape 43"/>
          <p:cNvSpPr/>
          <p:nvPr/>
        </p:nvSpPr>
        <p:spPr>
          <a:xfrm>
            <a:off x="6967728" y="1280160"/>
            <a:ext cx="310896" cy="0"/>
          </a:xfrm>
          <a:prstGeom prst="line">
            <a:avLst/>
          </a:prstGeom>
          <a:noFill/>
          <a:ln w="13335">
            <a:solidFill>
              <a:srgbClr val="14233E"/>
            </a:solidFill>
            <a:prstDash val="solid"/>
            <a:headEnd type="none"/>
            <a:tailEnd type="triangle"/>
          </a:ln>
        </p:spPr>
      </p:sp>
      <p:sp>
        <p:nvSpPr>
          <p:cNvPr id="47" name="Shape 44"/>
          <p:cNvSpPr/>
          <p:nvPr/>
        </p:nvSpPr>
        <p:spPr>
          <a:xfrm>
            <a:off x="7278624" y="914400"/>
            <a:ext cx="73152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7359091" y="1119226"/>
            <a:ext cx="219456" cy="351130"/>
          </a:xfrm>
          <a:prstGeom prst="rect">
            <a:avLst/>
          </a:prstGeom>
          <a:solidFill>
            <a:srgbClr val="F1F4F8"/>
          </a:solidFill>
          <a:ln w="12700">
            <a:solidFill>
              <a:srgbClr val="F1F4F8">
                <a:alpha val="0"/>
              </a:srgbClr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7578547" y="1119226"/>
            <a:ext cx="219456" cy="351130"/>
          </a:xfrm>
          <a:prstGeom prst="rect">
            <a:avLst/>
          </a:prstGeom>
          <a:solidFill>
            <a:srgbClr val="EFF5FE"/>
          </a:solidFill>
          <a:ln w="12700">
            <a:solidFill>
              <a:srgbClr val="EFF5FE">
                <a:alpha val="0"/>
              </a:srgbClr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7410298" y="1170432"/>
            <a:ext cx="58522" cy="58522"/>
          </a:xfrm>
          <a:prstGeom prst="ellipse">
            <a:avLst/>
          </a:prstGeom>
          <a:solidFill>
            <a:srgbClr val="708CB5"/>
          </a:solidFill>
          <a:ln w="5715">
            <a:solidFill>
              <a:srgbClr val="14233E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388352" y="1316736"/>
            <a:ext cx="190195" cy="109728"/>
          </a:xfrm>
          <a:prstGeom prst="triangle">
            <a:avLst/>
          </a:prstGeom>
          <a:solidFill>
            <a:srgbClr val="6A83AC"/>
          </a:solidFill>
          <a:ln w="5715">
            <a:solidFill>
              <a:srgbClr val="14233E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7549286" y="1250899"/>
            <a:ext cx="204826" cy="175565"/>
          </a:xfrm>
          <a:prstGeom prst="triangle">
            <a:avLst/>
          </a:prstGeom>
          <a:solidFill>
            <a:srgbClr val="405F8E"/>
          </a:solidFill>
          <a:ln w="5715">
            <a:solidFill>
              <a:srgbClr val="14233E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7578547" y="1119226"/>
            <a:ext cx="0" cy="351130"/>
          </a:xfrm>
          <a:prstGeom prst="line">
            <a:avLst/>
          </a:prstGeom>
          <a:noFill/>
          <a:ln w="10160">
            <a:solidFill>
              <a:srgbClr val="FFFFFF"/>
            </a:solidFill>
            <a:prstDash val="solid"/>
            <a:headEnd type="none"/>
            <a:tailEnd type="none"/>
          </a:ln>
        </p:spPr>
      </p:sp>
      <p:sp>
        <p:nvSpPr>
          <p:cNvPr id="54" name="Shape 51"/>
          <p:cNvSpPr/>
          <p:nvPr/>
        </p:nvSpPr>
        <p:spPr>
          <a:xfrm>
            <a:off x="7359091" y="1119226"/>
            <a:ext cx="438912" cy="351130"/>
          </a:xfrm>
          <a:prstGeom prst="roundRect">
            <a:avLst>
              <a:gd name="adj" fmla="val 5208"/>
            </a:avLst>
          </a:prstGeom>
          <a:solidFill>
            <a:srgbClr val="FFFFFF">
              <a:alpha val="0"/>
            </a:srgbClr>
          </a:solidFill>
          <a:ln w="11430">
            <a:solidFill>
              <a:srgbClr val="14233E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7783373" y="980237"/>
            <a:ext cx="131674" cy="131674"/>
          </a:xfrm>
          <a:prstGeom prst="star4">
            <a:avLst/>
          </a:prstGeom>
          <a:solidFill>
            <a:srgbClr val="2476D2"/>
          </a:solidFill>
          <a:ln w="5715">
            <a:solidFill>
              <a:srgbClr val="14233E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8138160" y="1280160"/>
            <a:ext cx="310896" cy="0"/>
          </a:xfrm>
          <a:prstGeom prst="line">
            <a:avLst/>
          </a:prstGeom>
          <a:noFill/>
          <a:ln w="17780">
            <a:solidFill>
              <a:srgbClr val="14233E"/>
            </a:solidFill>
            <a:prstDash val="solid"/>
            <a:headEnd type="none"/>
            <a:tailEnd type="triangle"/>
          </a:ln>
        </p:spPr>
      </p:sp>
      <p:sp>
        <p:nvSpPr>
          <p:cNvPr id="57" name="Shape 54"/>
          <p:cNvSpPr/>
          <p:nvPr/>
        </p:nvSpPr>
        <p:spPr>
          <a:xfrm>
            <a:off x="8449056" y="914400"/>
            <a:ext cx="73152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8609990" y="1046074"/>
            <a:ext cx="409651" cy="409651"/>
          </a:xfrm>
          <a:prstGeom prst="can">
            <a:avLst/>
          </a:prstGeom>
          <a:solidFill>
            <a:srgbClr val="14233E"/>
          </a:solidFill>
          <a:ln w="12700">
            <a:solidFill>
              <a:srgbClr val="14233E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8675827" y="1221638"/>
            <a:ext cx="65837" cy="6583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8774582" y="1221638"/>
            <a:ext cx="65837" cy="65837"/>
          </a:xfrm>
          <a:prstGeom prst="rect">
            <a:avLst/>
          </a:prstGeom>
          <a:solidFill>
            <a:srgbClr val="2476D2"/>
          </a:solidFill>
          <a:ln w="12700">
            <a:solidFill>
              <a:srgbClr val="2476D2">
                <a:alpha val="0"/>
              </a:srgbClr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8873338" y="1221638"/>
            <a:ext cx="65837" cy="6583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101584" y="1810512"/>
            <a:ext cx="142646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423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Encoding &amp; saving</a:t>
            </a:r>
            <a:endParaRPr lang="en-US" sz="1200" dirty="0"/>
          </a:p>
        </p:txBody>
      </p:sp>
      <p:sp>
        <p:nvSpPr>
          <p:cNvPr id="63" name="Shape 60"/>
          <p:cNvSpPr/>
          <p:nvPr/>
        </p:nvSpPr>
        <p:spPr>
          <a:xfrm>
            <a:off x="9180576" y="1280160"/>
            <a:ext cx="493776" cy="0"/>
          </a:xfrm>
          <a:prstGeom prst="line">
            <a:avLst/>
          </a:prstGeom>
          <a:noFill/>
          <a:ln w="17780">
            <a:solidFill>
              <a:srgbClr val="14233E"/>
            </a:solidFill>
            <a:prstDash val="solid"/>
            <a:headEnd type="none"/>
            <a:tailEnd type="triangle"/>
          </a:ln>
        </p:spPr>
      </p:sp>
      <p:pic>
        <p:nvPicPr>
          <p:cNvPr id="64" name="Image 1" descr="draft image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4352" y="914400"/>
            <a:ext cx="731520" cy="731520"/>
          </a:xfrm>
          <a:prstGeom prst="rect">
            <a:avLst/>
          </a:prstGeom>
        </p:spPr>
      </p:pic>
      <p:sp>
        <p:nvSpPr>
          <p:cNvPr id="65" name="Text 61"/>
          <p:cNvSpPr txBox="1"/>
          <p:nvPr/>
        </p:nvSpPr>
        <p:spPr>
          <a:xfrm>
            <a:off x="9601200" y="1810512"/>
            <a:ext cx="87782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423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image</a:t>
            </a:r>
            <a:endParaRPr lang="en-US" sz="1200" dirty="0"/>
          </a:p>
        </p:txBody>
      </p:sp>
      <p:sp>
        <p:nvSpPr>
          <p:cNvPr id="66" name="Shape 62"/>
          <p:cNvSpPr/>
          <p:nvPr/>
        </p:nvSpPr>
        <p:spPr>
          <a:xfrm>
            <a:off x="685800" y="3200400"/>
            <a:ext cx="2880360" cy="548640"/>
          </a:xfrm>
          <a:prstGeom prst="roundRect">
            <a:avLst>
              <a:gd name="adj" fmla="val 9167"/>
            </a:avLst>
          </a:prstGeom>
          <a:solidFill>
            <a:srgbClr val="FFFFFF"/>
          </a:solidFill>
          <a:ln w="14605">
            <a:solidFill>
              <a:srgbClr val="E56E2E"/>
            </a:solidFill>
            <a:prstDash val="solid"/>
          </a:ln>
        </p:spPr>
      </p:sp>
      <p:pic>
        <p:nvPicPr>
          <p:cNvPr id="67" name="Image 2" descr="pacing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264408"/>
            <a:ext cx="420624" cy="420624"/>
          </a:xfrm>
          <a:prstGeom prst="rect">
            <a:avLst/>
          </a:prstGeom>
        </p:spPr>
      </p:pic>
      <p:sp>
        <p:nvSpPr>
          <p:cNvPr id="68" name="Text 63"/>
          <p:cNvSpPr txBox="1"/>
          <p:nvPr/>
        </p:nvSpPr>
        <p:spPr>
          <a:xfrm>
            <a:off x="1389888" y="3282696"/>
            <a:ext cx="206654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23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Capture-Availability</a:t>
            </a:r>
            <a:endParaRPr lang="en-US" sz="1200" dirty="0"/>
          </a:p>
        </p:txBody>
      </p:sp>
      <p:sp>
        <p:nvSpPr>
          <p:cNvPr id="69" name="Text 64"/>
          <p:cNvSpPr txBox="1"/>
          <p:nvPr/>
        </p:nvSpPr>
        <p:spPr>
          <a:xfrm>
            <a:off x="1389888" y="3483864"/>
            <a:ext cx="206654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23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Pacing</a:t>
            </a:r>
            <a:endParaRPr lang="en-US" sz="1200" dirty="0"/>
          </a:p>
        </p:txBody>
      </p:sp>
      <p:sp>
        <p:nvSpPr>
          <p:cNvPr id="70" name="Shape 65"/>
          <p:cNvSpPr/>
          <p:nvPr/>
        </p:nvSpPr>
        <p:spPr>
          <a:xfrm>
            <a:off x="7406640" y="3200400"/>
            <a:ext cx="2880360" cy="548640"/>
          </a:xfrm>
          <a:prstGeom prst="roundRect">
            <a:avLst>
              <a:gd name="adj" fmla="val 9167"/>
            </a:avLst>
          </a:prstGeom>
          <a:solidFill>
            <a:srgbClr val="FFFFFF"/>
          </a:solidFill>
          <a:ln w="14605">
            <a:solidFill>
              <a:srgbClr val="2476D2"/>
            </a:solidFill>
            <a:prstDash val="solid"/>
          </a:ln>
        </p:spPr>
      </p:sp>
      <p:pic>
        <p:nvPicPr>
          <p:cNvPr id="71" name="Image 3" descr="admission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0" y="3264408"/>
            <a:ext cx="420624" cy="420624"/>
          </a:xfrm>
          <a:prstGeom prst="rect">
            <a:avLst/>
          </a:prstGeom>
        </p:spPr>
      </p:pic>
      <p:sp>
        <p:nvSpPr>
          <p:cNvPr id="72" name="Text 66"/>
          <p:cNvSpPr txBox="1"/>
          <p:nvPr/>
        </p:nvSpPr>
        <p:spPr>
          <a:xfrm>
            <a:off x="8110728" y="3282696"/>
            <a:ext cx="206654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23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Remaining-Sequence</a:t>
            </a:r>
            <a:endParaRPr lang="en-US" sz="1200" dirty="0"/>
          </a:p>
        </p:txBody>
      </p:sp>
      <p:sp>
        <p:nvSpPr>
          <p:cNvPr id="73" name="Text 67"/>
          <p:cNvSpPr txBox="1"/>
          <p:nvPr/>
        </p:nvSpPr>
        <p:spPr>
          <a:xfrm>
            <a:off x="8110728" y="3483864"/>
            <a:ext cx="206654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23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Admission</a:t>
            </a:r>
            <a:endParaRPr lang="en-US" sz="1200" dirty="0"/>
          </a:p>
        </p:txBody>
      </p:sp>
      <p:sp>
        <p:nvSpPr>
          <p:cNvPr id="74" name="Shape 68"/>
          <p:cNvSpPr/>
          <p:nvPr/>
        </p:nvSpPr>
        <p:spPr>
          <a:xfrm>
            <a:off x="2926080" y="3968496"/>
            <a:ext cx="512064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4605">
            <a:solidFill>
              <a:srgbClr val="526477"/>
            </a:solidFill>
            <a:prstDash val="solid"/>
          </a:ln>
        </p:spPr>
      </p:sp>
      <p:sp>
        <p:nvSpPr>
          <p:cNvPr id="75" name="Shape 69"/>
          <p:cNvSpPr/>
          <p:nvPr/>
        </p:nvSpPr>
        <p:spPr>
          <a:xfrm>
            <a:off x="3633769" y="4058107"/>
            <a:ext cx="305775" cy="305775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4233E"/>
            </a:solidFill>
            <a:prstDash val="solid"/>
          </a:ln>
        </p:spPr>
      </p:sp>
      <p:sp>
        <p:nvSpPr>
          <p:cNvPr id="76" name="Shape 70"/>
          <p:cNvSpPr/>
          <p:nvPr/>
        </p:nvSpPr>
        <p:spPr>
          <a:xfrm flipH="1" flipV="1">
            <a:off x="3667493" y="4142195"/>
            <a:ext cx="31777" cy="18347"/>
          </a:xfrm>
          <a:prstGeom prst="line">
            <a:avLst/>
          </a:prstGeom>
          <a:noFill/>
          <a:ln w="14605">
            <a:solidFill>
              <a:srgbClr val="526477"/>
            </a:solidFill>
            <a:prstDash val="solid"/>
            <a:headEnd type="none"/>
            <a:tailEnd type="none"/>
          </a:ln>
        </p:spPr>
      </p:sp>
      <p:sp>
        <p:nvSpPr>
          <p:cNvPr id="77" name="Shape 71"/>
          <p:cNvSpPr/>
          <p:nvPr/>
        </p:nvSpPr>
        <p:spPr>
          <a:xfrm flipV="1">
            <a:off x="3786657" y="4073396"/>
            <a:ext cx="0" cy="36693"/>
          </a:xfrm>
          <a:prstGeom prst="line">
            <a:avLst/>
          </a:prstGeom>
          <a:noFill/>
          <a:ln w="14605">
            <a:solidFill>
              <a:srgbClr val="526477"/>
            </a:solidFill>
            <a:prstDash val="solid"/>
            <a:headEnd type="none"/>
            <a:tailEnd type="none"/>
          </a:ln>
        </p:spPr>
      </p:sp>
      <p:sp>
        <p:nvSpPr>
          <p:cNvPr id="78" name="Shape 72"/>
          <p:cNvSpPr/>
          <p:nvPr/>
        </p:nvSpPr>
        <p:spPr>
          <a:xfrm flipV="1">
            <a:off x="3874044" y="4142195"/>
            <a:ext cx="31777" cy="18347"/>
          </a:xfrm>
          <a:prstGeom prst="line">
            <a:avLst/>
          </a:prstGeom>
          <a:noFill/>
          <a:ln w="14605">
            <a:solidFill>
              <a:srgbClr val="526477"/>
            </a:solidFill>
            <a:prstDash val="solid"/>
            <a:headEnd type="none"/>
            <a:tailEnd type="none"/>
          </a:ln>
        </p:spPr>
      </p:sp>
      <p:sp>
        <p:nvSpPr>
          <p:cNvPr id="79" name="Shape 73"/>
          <p:cNvSpPr/>
          <p:nvPr/>
        </p:nvSpPr>
        <p:spPr>
          <a:xfrm flipV="1">
            <a:off x="3786657" y="4115049"/>
            <a:ext cx="59953" cy="95946"/>
          </a:xfrm>
          <a:prstGeom prst="line">
            <a:avLst/>
          </a:prstGeom>
          <a:noFill/>
          <a:ln w="21590">
            <a:solidFill>
              <a:srgbClr val="E56E2E"/>
            </a:solidFill>
            <a:prstDash val="solid"/>
            <a:headEnd type="none"/>
            <a:tailEnd type="none"/>
          </a:ln>
        </p:spPr>
      </p:sp>
      <p:sp>
        <p:nvSpPr>
          <p:cNvPr id="80" name="Shape 74"/>
          <p:cNvSpPr/>
          <p:nvPr/>
        </p:nvSpPr>
        <p:spPr>
          <a:xfrm>
            <a:off x="3767546" y="4191884"/>
            <a:ext cx="38222" cy="38222"/>
          </a:xfrm>
          <a:prstGeom prst="ellipse">
            <a:avLst/>
          </a:prstGeom>
          <a:solidFill>
            <a:srgbClr val="14233E"/>
          </a:solidFill>
          <a:ln w="6350">
            <a:solidFill>
              <a:srgbClr val="14233E"/>
            </a:solidFill>
            <a:prstDash val="solid"/>
          </a:ln>
        </p:spPr>
      </p:sp>
      <p:sp>
        <p:nvSpPr>
          <p:cNvPr id="81" name="Text 75"/>
          <p:cNvSpPr txBox="1"/>
          <p:nvPr/>
        </p:nvSpPr>
        <p:spPr>
          <a:xfrm>
            <a:off x="4088409" y="3968496"/>
            <a:ext cx="3362910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23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Workload Model &amp; Online Duration Estimates</a:t>
            </a:r>
            <a:endParaRPr lang="en-US" sz="1200" dirty="0"/>
          </a:p>
        </p:txBody>
      </p:sp>
      <p:sp>
        <p:nvSpPr>
          <p:cNvPr id="82" name="Shape 76"/>
          <p:cNvSpPr/>
          <p:nvPr/>
        </p:nvSpPr>
        <p:spPr>
          <a:xfrm flipV="1">
            <a:off x="3200400" y="3749040"/>
            <a:ext cx="0" cy="219456"/>
          </a:xfrm>
          <a:prstGeom prst="line">
            <a:avLst/>
          </a:prstGeom>
          <a:noFill/>
          <a:ln w="17780">
            <a:solidFill>
              <a:srgbClr val="E56E2E"/>
            </a:solidFill>
            <a:prstDash val="solid"/>
            <a:headEnd type="none"/>
            <a:tailEnd type="triangle"/>
          </a:ln>
        </p:spPr>
      </p:sp>
      <p:sp>
        <p:nvSpPr>
          <p:cNvPr id="83" name="Shape 77"/>
          <p:cNvSpPr/>
          <p:nvPr/>
        </p:nvSpPr>
        <p:spPr>
          <a:xfrm flipV="1">
            <a:off x="7772400" y="3749040"/>
            <a:ext cx="0" cy="219456"/>
          </a:xfrm>
          <a:prstGeom prst="line">
            <a:avLst/>
          </a:prstGeom>
          <a:noFill/>
          <a:ln w="17780">
            <a:solidFill>
              <a:srgbClr val="2476D2"/>
            </a:solidFill>
            <a:prstDash val="solid"/>
            <a:headEnd type="none"/>
            <a:tailEnd type="triangle"/>
          </a:ln>
        </p:spPr>
      </p:sp>
      <p:sp>
        <p:nvSpPr>
          <p:cNvPr id="84" name="Shape 78"/>
          <p:cNvSpPr/>
          <p:nvPr/>
        </p:nvSpPr>
        <p:spPr>
          <a:xfrm>
            <a:off x="841248" y="1453896"/>
            <a:ext cx="0" cy="1746504"/>
          </a:xfrm>
          <a:prstGeom prst="line">
            <a:avLst/>
          </a:prstGeom>
          <a:noFill/>
          <a:ln w="17780">
            <a:solidFill>
              <a:srgbClr val="526477"/>
            </a:solidFill>
            <a:prstDash val="solid"/>
            <a:headEnd type="none"/>
            <a:tailEnd type="triangle"/>
          </a:ln>
        </p:spPr>
      </p:sp>
      <p:sp>
        <p:nvSpPr>
          <p:cNvPr id="85" name="Text 79"/>
          <p:cNvSpPr txBox="1"/>
          <p:nvPr/>
        </p:nvSpPr>
        <p:spPr>
          <a:xfrm>
            <a:off x="932688" y="2212848"/>
            <a:ext cx="123444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264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captureAvailable</a:t>
            </a:r>
            <a:endParaRPr lang="en-US" sz="1200" dirty="0"/>
          </a:p>
        </p:txBody>
      </p:sp>
      <p:sp>
        <p:nvSpPr>
          <p:cNvPr id="86" name="Text 80"/>
          <p:cNvSpPr txBox="1"/>
          <p:nvPr/>
        </p:nvSpPr>
        <p:spPr>
          <a:xfrm>
            <a:off x="932688" y="2414016"/>
            <a:ext cx="123444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264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callback</a:t>
            </a:r>
            <a:endParaRPr lang="en-US" sz="1200" dirty="0"/>
          </a:p>
        </p:txBody>
      </p:sp>
      <p:sp>
        <p:nvSpPr>
          <p:cNvPr id="87" name="Shape 81"/>
          <p:cNvSpPr/>
          <p:nvPr/>
        </p:nvSpPr>
        <p:spPr>
          <a:xfrm flipV="1">
            <a:off x="2258568" y="1801368"/>
            <a:ext cx="0" cy="1399032"/>
          </a:xfrm>
          <a:prstGeom prst="line">
            <a:avLst/>
          </a:prstGeom>
          <a:noFill/>
          <a:ln w="17780">
            <a:solidFill>
              <a:srgbClr val="E56E2E"/>
            </a:solidFill>
            <a:prstDash val="solid"/>
            <a:headEnd type="none"/>
            <a:tailEnd type="triangle"/>
          </a:ln>
        </p:spPr>
      </p:sp>
      <p:sp>
        <p:nvSpPr>
          <p:cNvPr id="88" name="Text 82"/>
          <p:cNvSpPr txBox="1"/>
          <p:nvPr/>
        </p:nvSpPr>
        <p:spPr>
          <a:xfrm>
            <a:off x="2350008" y="2212848"/>
            <a:ext cx="13258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56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delayed release</a:t>
            </a:r>
            <a:endParaRPr lang="en-US" sz="1200" dirty="0"/>
          </a:p>
        </p:txBody>
      </p:sp>
      <p:sp>
        <p:nvSpPr>
          <p:cNvPr id="89" name="Text 83"/>
          <p:cNvSpPr txBox="1"/>
          <p:nvPr/>
        </p:nvSpPr>
        <p:spPr>
          <a:xfrm>
            <a:off x="2350008" y="2414016"/>
            <a:ext cx="13258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56E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sets next capture</a:t>
            </a:r>
            <a:endParaRPr lang="en-US" sz="1200" dirty="0"/>
          </a:p>
        </p:txBody>
      </p:sp>
      <p:sp>
        <p:nvSpPr>
          <p:cNvPr id="90" name="Shape 84"/>
          <p:cNvSpPr/>
          <p:nvPr/>
        </p:nvSpPr>
        <p:spPr>
          <a:xfrm>
            <a:off x="3840480" y="1645920"/>
            <a:ext cx="0" cy="2322576"/>
          </a:xfrm>
          <a:prstGeom prst="line">
            <a:avLst/>
          </a:prstGeom>
          <a:noFill/>
          <a:ln w="17780">
            <a:solidFill>
              <a:srgbClr val="526477"/>
            </a:solidFill>
            <a:prstDash val="solid"/>
            <a:headEnd type="none"/>
            <a:tailEnd type="triangle"/>
          </a:ln>
        </p:spPr>
      </p:sp>
      <p:sp>
        <p:nvSpPr>
          <p:cNvPr id="91" name="Text 85"/>
          <p:cNvSpPr txBox="1"/>
          <p:nvPr/>
        </p:nvSpPr>
        <p:spPr>
          <a:xfrm>
            <a:off x="3931920" y="2212848"/>
            <a:ext cx="173736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264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queued work observed</a:t>
            </a:r>
            <a:endParaRPr lang="en-US" sz="1200" dirty="0"/>
          </a:p>
        </p:txBody>
      </p:sp>
      <p:sp>
        <p:nvSpPr>
          <p:cNvPr id="92" name="Text 86"/>
          <p:cNvSpPr txBox="1"/>
          <p:nvPr/>
        </p:nvSpPr>
        <p:spPr>
          <a:xfrm>
            <a:off x="3931920" y="2414016"/>
            <a:ext cx="173736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264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dispatch</a:t>
            </a:r>
            <a:endParaRPr lang="en-US" sz="1200" dirty="0"/>
          </a:p>
        </p:txBody>
      </p:sp>
      <p:sp>
        <p:nvSpPr>
          <p:cNvPr id="93" name="Shape 87"/>
          <p:cNvSpPr/>
          <p:nvPr/>
        </p:nvSpPr>
        <p:spPr>
          <a:xfrm flipV="1">
            <a:off x="8595360" y="2688336"/>
            <a:ext cx="0" cy="512064"/>
          </a:xfrm>
          <a:prstGeom prst="line">
            <a:avLst/>
          </a:prstGeom>
          <a:noFill/>
          <a:ln w="17780">
            <a:solidFill>
              <a:srgbClr val="2476D2"/>
            </a:solidFill>
            <a:prstDash val="solid"/>
            <a:headEnd type="none"/>
            <a:tailEnd type="none"/>
          </a:ln>
        </p:spPr>
      </p:sp>
      <p:sp>
        <p:nvSpPr>
          <p:cNvPr id="94" name="Shape 88"/>
          <p:cNvSpPr/>
          <p:nvPr/>
        </p:nvSpPr>
        <p:spPr>
          <a:xfrm flipH="1">
            <a:off x="7123176" y="2688336"/>
            <a:ext cx="1472184" cy="0"/>
          </a:xfrm>
          <a:prstGeom prst="line">
            <a:avLst/>
          </a:prstGeom>
          <a:noFill/>
          <a:ln w="17780">
            <a:solidFill>
              <a:srgbClr val="2476D2"/>
            </a:solidFill>
            <a:prstDash val="solid"/>
            <a:headEnd type="none"/>
            <a:tailEnd type="none"/>
          </a:ln>
        </p:spPr>
      </p:sp>
      <p:sp>
        <p:nvSpPr>
          <p:cNvPr id="95" name="Shape 89"/>
          <p:cNvSpPr/>
          <p:nvPr/>
        </p:nvSpPr>
        <p:spPr>
          <a:xfrm flipV="1">
            <a:off x="7123176" y="1773936"/>
            <a:ext cx="0" cy="914400"/>
          </a:xfrm>
          <a:prstGeom prst="line">
            <a:avLst/>
          </a:prstGeom>
          <a:noFill/>
          <a:ln w="17780">
            <a:solidFill>
              <a:srgbClr val="2476D2"/>
            </a:solidFill>
            <a:prstDash val="solid"/>
            <a:headEnd type="none"/>
            <a:tailEnd type="triangle"/>
          </a:ln>
        </p:spPr>
      </p:sp>
      <p:sp>
        <p:nvSpPr>
          <p:cNvPr id="96" name="Text 90"/>
          <p:cNvSpPr txBox="1"/>
          <p:nvPr/>
        </p:nvSpPr>
        <p:spPr>
          <a:xfrm>
            <a:off x="7232904" y="2212848"/>
            <a:ext cx="128016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4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admit or skip</a:t>
            </a:r>
            <a:endParaRPr lang="en-US" sz="1200" dirty="0"/>
          </a:p>
        </p:txBody>
      </p:sp>
      <p:sp>
        <p:nvSpPr>
          <p:cNvPr id="97" name="Text 91"/>
          <p:cNvSpPr txBox="1"/>
          <p:nvPr/>
        </p:nvSpPr>
        <p:spPr>
          <a:xfrm>
            <a:off x="7232904" y="2414016"/>
            <a:ext cx="128016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476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stages</a:t>
            </a:r>
            <a:endParaRPr lang="en-US" sz="1200" dirty="0"/>
          </a:p>
        </p:txBody>
      </p:sp>
      <p:sp>
        <p:nvSpPr>
          <p:cNvPr id="98" name="Shape 92"/>
          <p:cNvSpPr/>
          <p:nvPr/>
        </p:nvSpPr>
        <p:spPr>
          <a:xfrm>
            <a:off x="10405872" y="1280160"/>
            <a:ext cx="128016" cy="0"/>
          </a:xfrm>
          <a:prstGeom prst="line">
            <a:avLst/>
          </a:prstGeom>
          <a:noFill/>
          <a:ln w="17780">
            <a:solidFill>
              <a:srgbClr val="526477"/>
            </a:solidFill>
            <a:prstDash val="solid"/>
            <a:headEnd type="none"/>
            <a:tailEnd type="none"/>
          </a:ln>
        </p:spPr>
      </p:sp>
      <p:sp>
        <p:nvSpPr>
          <p:cNvPr id="99" name="Shape 93"/>
          <p:cNvSpPr/>
          <p:nvPr/>
        </p:nvSpPr>
        <p:spPr>
          <a:xfrm>
            <a:off x="10533888" y="1280160"/>
            <a:ext cx="0" cy="2916936"/>
          </a:xfrm>
          <a:prstGeom prst="line">
            <a:avLst/>
          </a:prstGeom>
          <a:noFill/>
          <a:ln w="17780">
            <a:solidFill>
              <a:srgbClr val="526477"/>
            </a:solidFill>
            <a:prstDash val="solid"/>
            <a:headEnd type="none"/>
            <a:tailEnd type="none"/>
          </a:ln>
        </p:spPr>
      </p:sp>
      <p:sp>
        <p:nvSpPr>
          <p:cNvPr id="100" name="Shape 94"/>
          <p:cNvSpPr/>
          <p:nvPr/>
        </p:nvSpPr>
        <p:spPr>
          <a:xfrm flipH="1">
            <a:off x="8046720" y="4197096"/>
            <a:ext cx="2487168" cy="0"/>
          </a:xfrm>
          <a:prstGeom prst="line">
            <a:avLst/>
          </a:prstGeom>
          <a:noFill/>
          <a:ln w="17780">
            <a:solidFill>
              <a:srgbClr val="526477"/>
            </a:solidFill>
            <a:prstDash val="solid"/>
            <a:headEnd type="none"/>
            <a:tailEnd type="triangle"/>
          </a:ln>
        </p:spPr>
      </p:sp>
      <p:sp>
        <p:nvSpPr>
          <p:cNvPr id="101" name="Text 95"/>
          <p:cNvSpPr txBox="1"/>
          <p:nvPr/>
        </p:nvSpPr>
        <p:spPr>
          <a:xfrm>
            <a:off x="9052560" y="2212848"/>
            <a:ext cx="138988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264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Draft</a:t>
            </a:r>
            <a:endParaRPr lang="en-US" sz="1200" dirty="0"/>
          </a:p>
        </p:txBody>
      </p:sp>
      <p:sp>
        <p:nvSpPr>
          <p:cNvPr id="102" name="Text 96"/>
          <p:cNvSpPr txBox="1"/>
          <p:nvPr/>
        </p:nvSpPr>
        <p:spPr>
          <a:xfrm>
            <a:off x="9052560" y="2414016"/>
            <a:ext cx="138988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264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Sequence duration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SEIP 2027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Budget-Aware Draft Controller</dc:title>
  <dc:subject>Budget-Aware Draft Controller overview</dc:subject>
  <dc:creator>SEIP 2027 paper authors</dc:creator>
  <cp:lastModifiedBy>SEIP 2027 paper authors</cp:lastModifiedBy>
  <cp:revision>1</cp:revision>
  <dcterms:created xsi:type="dcterms:W3CDTF">2026-08-10T14:11:10Z</dcterms:created>
  <dcterms:modified xsi:type="dcterms:W3CDTF">2026-08-10T14:11:10Z</dcterms:modified>
</cp:coreProperties>
</file>