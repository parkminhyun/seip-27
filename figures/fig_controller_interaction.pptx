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0972800" cy="4718050"/>
  <p:notesSz cx="4718050" cy="10972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9" d="100"/>
          <a:sy n="179" d="100"/>
        </p:scale>
        <p:origin x="180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8250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captures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Draft Sequences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active Draft Sequence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274320" y="2798064"/>
            <a:ext cx="10424160" cy="1755648"/>
          </a:xfrm>
          <a:prstGeom prst="roundRect">
            <a:avLst>
              <a:gd name="adj" fmla="val 2604"/>
            </a:avLst>
          </a:prstGeom>
          <a:solidFill>
            <a:srgbClr val="F2F5FA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74320" y="2798064"/>
            <a:ext cx="10424160" cy="310896"/>
          </a:xfrm>
          <a:prstGeom prst="roundRect">
            <a:avLst>
              <a:gd name="adj" fmla="val 14706"/>
            </a:avLst>
          </a:prstGeom>
          <a:solidFill>
            <a:srgbClr val="DFE7F3"/>
          </a:solidFill>
          <a:ln w="12700">
            <a:solidFill>
              <a:srgbClr val="DFE7F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274320" y="2953512"/>
            <a:ext cx="10424160" cy="155448"/>
          </a:xfrm>
          <a:prstGeom prst="rect">
            <a:avLst/>
          </a:prstGeom>
          <a:solidFill>
            <a:srgbClr val="DFE7F3"/>
          </a:solidFill>
          <a:ln w="12700">
            <a:solidFill>
              <a:srgbClr val="DFE7F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274320" y="3108960"/>
            <a:ext cx="10424160" cy="0"/>
          </a:xfrm>
          <a:prstGeom prst="line">
            <a:avLst/>
          </a:prstGeom>
          <a:noFill/>
          <a:ln w="1270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274320" y="2798064"/>
            <a:ext cx="1042416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Budget-Aware Draft Controller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</a:t>
            </a:r>
            <a:r>
              <a:rPr lang="en-US" sz="1050" b="1" i="1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</a:t>
            </a:r>
            <a:r>
              <a:rPr lang="en-US" sz="125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</a:t>
            </a:r>
            <a:r>
              <a:rPr lang="en-US" sz="125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r>
              <a:rPr lang="en-US" sz="125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097280" y="1453896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1097280" y="1453896"/>
            <a:ext cx="129844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</a:t>
            </a:r>
            <a:r>
              <a:rPr lang="en-US" sz="125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r>
              <a:rPr lang="en-US" sz="125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2395728" y="1627632"/>
            <a:ext cx="164592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2560320" y="932688"/>
            <a:ext cx="0" cy="694944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2944368" y="530352"/>
            <a:ext cx="263347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373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served in capture order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526477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</a:t>
            </a:r>
            <a:r>
              <a:rPr lang="en-US" sz="120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r>
              <a:rPr lang="en-US" sz="120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</a:t>
            </a:r>
            <a:r>
              <a:rPr lang="en-US" sz="120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r>
              <a:rPr lang="en-US" sz="120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image processing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0" descr="optional multifram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914400"/>
            <a:ext cx="731520" cy="731520"/>
          </a:xfrm>
          <a:prstGeom prst="rect">
            <a:avLst/>
          </a:prstGeom>
        </p:spPr>
      </p:pic>
      <p:sp>
        <p:nvSpPr>
          <p:cNvPr id="46" name="Shape 43"/>
          <p:cNvSpPr/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727862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7359091" y="1119226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6"/>
          <p:cNvSpPr/>
          <p:nvPr/>
        </p:nvSpPr>
        <p:spPr>
          <a:xfrm>
            <a:off x="7578547" y="1119226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7"/>
          <p:cNvSpPr/>
          <p:nvPr/>
        </p:nvSpPr>
        <p:spPr>
          <a:xfrm>
            <a:off x="7410298" y="1170432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7388352" y="1316736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9"/>
          <p:cNvSpPr/>
          <p:nvPr/>
        </p:nvSpPr>
        <p:spPr>
          <a:xfrm>
            <a:off x="7549286" y="1250899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0"/>
          <p:cNvSpPr/>
          <p:nvPr/>
        </p:nvSpPr>
        <p:spPr>
          <a:xfrm>
            <a:off x="7578547" y="1119226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1"/>
          <p:cNvSpPr/>
          <p:nvPr/>
        </p:nvSpPr>
        <p:spPr>
          <a:xfrm>
            <a:off x="7359091" y="1119226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7783373" y="980237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8138160" y="1280160"/>
            <a:ext cx="31089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4"/>
          <p:cNvSpPr/>
          <p:nvPr/>
        </p:nvSpPr>
        <p:spPr>
          <a:xfrm>
            <a:off x="8449056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5"/>
          <p:cNvSpPr/>
          <p:nvPr/>
        </p:nvSpPr>
        <p:spPr>
          <a:xfrm>
            <a:off x="8609990" y="1046074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6"/>
          <p:cNvSpPr/>
          <p:nvPr/>
        </p:nvSpPr>
        <p:spPr>
          <a:xfrm>
            <a:off x="8675827" y="1221638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7"/>
          <p:cNvSpPr/>
          <p:nvPr/>
        </p:nvSpPr>
        <p:spPr>
          <a:xfrm>
            <a:off x="8774582" y="1221638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8"/>
          <p:cNvSpPr/>
          <p:nvPr/>
        </p:nvSpPr>
        <p:spPr>
          <a:xfrm>
            <a:off x="8873338" y="1221638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8101584" y="1810512"/>
            <a:ext cx="14264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 &amp; saving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9180576" y="1280160"/>
            <a:ext cx="49377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4" name="Image 1" descr="draft image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/>
          <p:cNvSpPr txBox="1"/>
          <p:nvPr/>
        </p:nvSpPr>
        <p:spPr>
          <a:xfrm>
            <a:off x="9601200" y="1810512"/>
            <a:ext cx="8778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image</a:t>
            </a:r>
            <a:endParaRPr lang="en-US" sz="1200" dirty="0"/>
          </a:p>
        </p:txBody>
      </p:sp>
      <p:sp>
        <p:nvSpPr>
          <p:cNvPr id="66" name="Shape 62"/>
          <p:cNvSpPr/>
          <p:nvPr/>
        </p:nvSpPr>
        <p:spPr>
          <a:xfrm>
            <a:off x="685800" y="3200400"/>
            <a:ext cx="2880360" cy="54864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4605">
            <a:solidFill>
              <a:srgbClr val="E56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7" name="Image 2" descr="pacing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264408"/>
            <a:ext cx="420624" cy="420624"/>
          </a:xfrm>
          <a:prstGeom prst="rect">
            <a:avLst/>
          </a:prstGeom>
        </p:spPr>
      </p:pic>
      <p:sp>
        <p:nvSpPr>
          <p:cNvPr id="68" name="Text 63"/>
          <p:cNvSpPr txBox="1"/>
          <p:nvPr/>
        </p:nvSpPr>
        <p:spPr>
          <a:xfrm>
            <a:off x="1389888" y="3282696"/>
            <a:ext cx="20665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Capture-Availability</a:t>
            </a:r>
            <a:endParaRPr lang="en-US" sz="1200" dirty="0"/>
          </a:p>
        </p:txBody>
      </p:sp>
      <p:sp>
        <p:nvSpPr>
          <p:cNvPr id="69" name="Text 64"/>
          <p:cNvSpPr txBox="1"/>
          <p:nvPr/>
        </p:nvSpPr>
        <p:spPr>
          <a:xfrm>
            <a:off x="1389888" y="3483864"/>
            <a:ext cx="20665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Pacing</a:t>
            </a:r>
            <a:endParaRPr lang="en-US" sz="1200" dirty="0"/>
          </a:p>
        </p:txBody>
      </p:sp>
      <p:sp>
        <p:nvSpPr>
          <p:cNvPr id="70" name="Shape 65"/>
          <p:cNvSpPr/>
          <p:nvPr/>
        </p:nvSpPr>
        <p:spPr>
          <a:xfrm>
            <a:off x="7406640" y="3200400"/>
            <a:ext cx="2880360" cy="54864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4605">
            <a:solidFill>
              <a:srgbClr val="2476D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1" name="Image 3" descr="admission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3264408"/>
            <a:ext cx="420624" cy="420624"/>
          </a:xfrm>
          <a:prstGeom prst="rect">
            <a:avLst/>
          </a:prstGeom>
        </p:spPr>
      </p:pic>
      <p:sp>
        <p:nvSpPr>
          <p:cNvPr id="72" name="Text 66"/>
          <p:cNvSpPr txBox="1"/>
          <p:nvPr/>
        </p:nvSpPr>
        <p:spPr>
          <a:xfrm>
            <a:off x="8110728" y="3282696"/>
            <a:ext cx="20665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Remaining-Sequence</a:t>
            </a:r>
            <a:endParaRPr lang="en-US" sz="1200" dirty="0"/>
          </a:p>
        </p:txBody>
      </p:sp>
      <p:sp>
        <p:nvSpPr>
          <p:cNvPr id="73" name="Text 67"/>
          <p:cNvSpPr txBox="1"/>
          <p:nvPr/>
        </p:nvSpPr>
        <p:spPr>
          <a:xfrm>
            <a:off x="8110728" y="3483864"/>
            <a:ext cx="20665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</a:t>
            </a:r>
            <a:endParaRPr lang="en-US" sz="1200" dirty="0"/>
          </a:p>
        </p:txBody>
      </p:sp>
      <p:sp>
        <p:nvSpPr>
          <p:cNvPr id="74" name="Shape 68"/>
          <p:cNvSpPr/>
          <p:nvPr/>
        </p:nvSpPr>
        <p:spPr>
          <a:xfrm>
            <a:off x="2926080" y="3968496"/>
            <a:ext cx="51206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605">
            <a:solidFill>
              <a:srgbClr val="5264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69"/>
          <p:cNvSpPr/>
          <p:nvPr/>
        </p:nvSpPr>
        <p:spPr>
          <a:xfrm>
            <a:off x="3633769" y="4058107"/>
            <a:ext cx="305775" cy="305775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70"/>
          <p:cNvSpPr/>
          <p:nvPr/>
        </p:nvSpPr>
        <p:spPr>
          <a:xfrm flipH="1" flipV="1">
            <a:off x="3667493" y="4142195"/>
            <a:ext cx="31777" cy="18347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1"/>
          <p:cNvSpPr/>
          <p:nvPr/>
        </p:nvSpPr>
        <p:spPr>
          <a:xfrm flipV="1">
            <a:off x="3786657" y="4073396"/>
            <a:ext cx="0" cy="3669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2"/>
          <p:cNvSpPr/>
          <p:nvPr/>
        </p:nvSpPr>
        <p:spPr>
          <a:xfrm flipV="1">
            <a:off x="3874044" y="4142195"/>
            <a:ext cx="31777" cy="18347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3"/>
          <p:cNvSpPr/>
          <p:nvPr/>
        </p:nvSpPr>
        <p:spPr>
          <a:xfrm flipV="1">
            <a:off x="3786657" y="4115049"/>
            <a:ext cx="59953" cy="95946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4"/>
          <p:cNvSpPr/>
          <p:nvPr/>
        </p:nvSpPr>
        <p:spPr>
          <a:xfrm>
            <a:off x="3767546" y="4191884"/>
            <a:ext cx="38222" cy="38222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5"/>
          <p:cNvSpPr txBox="1"/>
          <p:nvPr/>
        </p:nvSpPr>
        <p:spPr>
          <a:xfrm>
            <a:off x="4088409" y="3968496"/>
            <a:ext cx="336291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Workload Model &amp; Online Duration Estimates</a:t>
            </a:r>
            <a:endParaRPr lang="en-US" sz="1200" dirty="0"/>
          </a:p>
        </p:txBody>
      </p:sp>
      <p:sp>
        <p:nvSpPr>
          <p:cNvPr id="82" name="Shape 76"/>
          <p:cNvSpPr/>
          <p:nvPr/>
        </p:nvSpPr>
        <p:spPr>
          <a:xfrm flipV="1">
            <a:off x="3200400" y="3749040"/>
            <a:ext cx="0" cy="219456"/>
          </a:xfrm>
          <a:prstGeom prst="line">
            <a:avLst/>
          </a:prstGeom>
          <a:noFill/>
          <a:ln w="17780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Shape 77"/>
          <p:cNvSpPr/>
          <p:nvPr/>
        </p:nvSpPr>
        <p:spPr>
          <a:xfrm flipV="1">
            <a:off x="7772400" y="3749040"/>
            <a:ext cx="0" cy="219456"/>
          </a:xfrm>
          <a:prstGeom prst="line">
            <a:avLst/>
          </a:prstGeom>
          <a:noFill/>
          <a:ln w="17780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78"/>
          <p:cNvSpPr/>
          <p:nvPr/>
        </p:nvSpPr>
        <p:spPr>
          <a:xfrm>
            <a:off x="841248" y="1453896"/>
            <a:ext cx="0" cy="1746504"/>
          </a:xfrm>
          <a:prstGeom prst="line">
            <a:avLst/>
          </a:prstGeom>
          <a:noFill/>
          <a:ln w="17780">
            <a:solidFill>
              <a:srgbClr val="52647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79"/>
          <p:cNvSpPr txBox="1"/>
          <p:nvPr/>
        </p:nvSpPr>
        <p:spPr>
          <a:xfrm>
            <a:off x="932688" y="2212848"/>
            <a:ext cx="12344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captureAvailable</a:t>
            </a:r>
            <a:endParaRPr lang="en-US" sz="1200" dirty="0"/>
          </a:p>
        </p:txBody>
      </p:sp>
      <p:sp>
        <p:nvSpPr>
          <p:cNvPr id="86" name="Text 80"/>
          <p:cNvSpPr txBox="1"/>
          <p:nvPr/>
        </p:nvSpPr>
        <p:spPr>
          <a:xfrm>
            <a:off x="932688" y="2414016"/>
            <a:ext cx="12344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</a:t>
            </a:r>
            <a:endParaRPr lang="en-US" sz="1200" dirty="0"/>
          </a:p>
        </p:txBody>
      </p:sp>
      <p:sp>
        <p:nvSpPr>
          <p:cNvPr id="87" name="Shape 81"/>
          <p:cNvSpPr/>
          <p:nvPr/>
        </p:nvSpPr>
        <p:spPr>
          <a:xfrm flipV="1">
            <a:off x="2258568" y="1801368"/>
            <a:ext cx="0" cy="1399032"/>
          </a:xfrm>
          <a:prstGeom prst="line">
            <a:avLst/>
          </a:prstGeom>
          <a:noFill/>
          <a:ln w="17780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2"/>
          <p:cNvSpPr txBox="1"/>
          <p:nvPr/>
        </p:nvSpPr>
        <p:spPr>
          <a:xfrm>
            <a:off x="2350008" y="2212848"/>
            <a:ext cx="13258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5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delayed release</a:t>
            </a:r>
            <a:endParaRPr lang="en-US" sz="1200" dirty="0"/>
          </a:p>
        </p:txBody>
      </p:sp>
      <p:sp>
        <p:nvSpPr>
          <p:cNvPr id="89" name="Text 83"/>
          <p:cNvSpPr txBox="1"/>
          <p:nvPr/>
        </p:nvSpPr>
        <p:spPr>
          <a:xfrm>
            <a:off x="2350008" y="2414016"/>
            <a:ext cx="13258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5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sets next capture</a:t>
            </a:r>
            <a:endParaRPr lang="en-US" sz="1200" dirty="0"/>
          </a:p>
        </p:txBody>
      </p:sp>
      <p:sp>
        <p:nvSpPr>
          <p:cNvPr id="90" name="Shape 84"/>
          <p:cNvSpPr/>
          <p:nvPr/>
        </p:nvSpPr>
        <p:spPr>
          <a:xfrm>
            <a:off x="3840480" y="1645920"/>
            <a:ext cx="0" cy="2322576"/>
          </a:xfrm>
          <a:prstGeom prst="line">
            <a:avLst/>
          </a:prstGeom>
          <a:noFill/>
          <a:ln w="17780">
            <a:solidFill>
              <a:srgbClr val="52647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5"/>
          <p:cNvSpPr txBox="1"/>
          <p:nvPr/>
        </p:nvSpPr>
        <p:spPr>
          <a:xfrm>
            <a:off x="3931920" y="2212848"/>
            <a:ext cx="1737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queued work observed</a:t>
            </a:r>
            <a:endParaRPr lang="en-US" sz="1200" dirty="0"/>
          </a:p>
        </p:txBody>
      </p:sp>
      <p:sp>
        <p:nvSpPr>
          <p:cNvPr id="92" name="Text 86"/>
          <p:cNvSpPr txBox="1"/>
          <p:nvPr/>
        </p:nvSpPr>
        <p:spPr>
          <a:xfrm>
            <a:off x="3931920" y="2414016"/>
            <a:ext cx="1737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dispatch</a:t>
            </a:r>
            <a:endParaRPr lang="en-US" sz="1200" dirty="0"/>
          </a:p>
        </p:txBody>
      </p:sp>
      <p:sp>
        <p:nvSpPr>
          <p:cNvPr id="93" name="Shape 87"/>
          <p:cNvSpPr/>
          <p:nvPr/>
        </p:nvSpPr>
        <p:spPr>
          <a:xfrm flipV="1">
            <a:off x="8595360" y="2688336"/>
            <a:ext cx="0" cy="512064"/>
          </a:xfrm>
          <a:prstGeom prst="line">
            <a:avLst/>
          </a:prstGeom>
          <a:noFill/>
          <a:ln w="17780">
            <a:solidFill>
              <a:srgbClr val="2476D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Shape 88"/>
          <p:cNvSpPr/>
          <p:nvPr/>
        </p:nvSpPr>
        <p:spPr>
          <a:xfrm flipH="1">
            <a:off x="7123176" y="2688336"/>
            <a:ext cx="1472184" cy="0"/>
          </a:xfrm>
          <a:prstGeom prst="line">
            <a:avLst/>
          </a:prstGeom>
          <a:noFill/>
          <a:ln w="17780">
            <a:solidFill>
              <a:srgbClr val="2476D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Shape 89"/>
          <p:cNvSpPr/>
          <p:nvPr/>
        </p:nvSpPr>
        <p:spPr>
          <a:xfrm flipV="1">
            <a:off x="7123176" y="1773936"/>
            <a:ext cx="0" cy="914400"/>
          </a:xfrm>
          <a:prstGeom prst="line">
            <a:avLst/>
          </a:prstGeom>
          <a:noFill/>
          <a:ln w="17780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Text 90"/>
          <p:cNvSpPr txBox="1"/>
          <p:nvPr/>
        </p:nvSpPr>
        <p:spPr>
          <a:xfrm>
            <a:off x="7232904" y="2212848"/>
            <a:ext cx="12801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admit or skip</a:t>
            </a:r>
            <a:endParaRPr lang="en-US" sz="1200" dirty="0"/>
          </a:p>
        </p:txBody>
      </p:sp>
      <p:sp>
        <p:nvSpPr>
          <p:cNvPr id="97" name="Text 91"/>
          <p:cNvSpPr txBox="1"/>
          <p:nvPr/>
        </p:nvSpPr>
        <p:spPr>
          <a:xfrm>
            <a:off x="7232904" y="2414016"/>
            <a:ext cx="12801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stages</a:t>
            </a:r>
            <a:endParaRPr lang="en-US" sz="1200" dirty="0"/>
          </a:p>
        </p:txBody>
      </p:sp>
      <p:sp>
        <p:nvSpPr>
          <p:cNvPr id="98" name="Shape 92"/>
          <p:cNvSpPr/>
          <p:nvPr/>
        </p:nvSpPr>
        <p:spPr>
          <a:xfrm>
            <a:off x="10405872" y="1280160"/>
            <a:ext cx="128016" cy="0"/>
          </a:xfrm>
          <a:prstGeom prst="line">
            <a:avLst/>
          </a:prstGeom>
          <a:noFill/>
          <a:ln w="17780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Shape 93"/>
          <p:cNvSpPr/>
          <p:nvPr/>
        </p:nvSpPr>
        <p:spPr>
          <a:xfrm>
            <a:off x="10533888" y="1280160"/>
            <a:ext cx="0" cy="2916936"/>
          </a:xfrm>
          <a:prstGeom prst="line">
            <a:avLst/>
          </a:prstGeom>
          <a:noFill/>
          <a:ln w="17780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Shape 94"/>
          <p:cNvSpPr/>
          <p:nvPr/>
        </p:nvSpPr>
        <p:spPr>
          <a:xfrm flipH="1">
            <a:off x="8046720" y="4197096"/>
            <a:ext cx="2487168" cy="0"/>
          </a:xfrm>
          <a:prstGeom prst="line">
            <a:avLst/>
          </a:prstGeom>
          <a:noFill/>
          <a:ln w="17780">
            <a:solidFill>
              <a:srgbClr val="52647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1" name="Text 95"/>
          <p:cNvSpPr txBox="1"/>
          <p:nvPr/>
        </p:nvSpPr>
        <p:spPr>
          <a:xfrm>
            <a:off x="9052560" y="2212848"/>
            <a:ext cx="138988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Draft</a:t>
            </a:r>
            <a:endParaRPr lang="en-US" sz="1200" dirty="0"/>
          </a:p>
        </p:txBody>
      </p:sp>
      <p:sp>
        <p:nvSpPr>
          <p:cNvPr id="102" name="Text 96"/>
          <p:cNvSpPr txBox="1"/>
          <p:nvPr/>
        </p:nvSpPr>
        <p:spPr>
          <a:xfrm>
            <a:off x="9052560" y="2414016"/>
            <a:ext cx="138988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duration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</Words>
  <Application>Microsoft Office PowerPoint</Application>
  <PresentationFormat>사용자 지정</PresentationFormat>
  <Paragraphs>30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Company>SEIP 2027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Budget-Aware Draft Controller</dc:title>
  <dc:subject>Budget-Aware Draft Controller overview</dc:subject>
  <dc:creator>SEIP 2027 paper authors</dc:creator>
  <cp:lastModifiedBy>Eunki Song</cp:lastModifiedBy>
  <cp:revision>1</cp:revision>
  <dcterms:created xsi:type="dcterms:W3CDTF">2026-08-10T14:11:10Z</dcterms:created>
  <dcterms:modified xsi:type="dcterms:W3CDTF">2026-08-11T10:14:03Z</dcterms:modified>
</cp:coreProperties>
</file>