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WorkloadKey 와 WorkloadSequenceKey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무엇을 "학습"하는 단위인가, 무엇을 "판단"하는 단위인가 — 예측기의 두 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08176"/>
            <a:ext cx="5419191" cy="2249424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" descr="icon_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645920"/>
            <a:ext cx="365760" cy="365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9888" y="1627632"/>
            <a:ext cx="43219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WorkloadKey</a:t>
            </a:r>
            <a:r>
              <a:rPr sz="17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  —  학습의 단위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121408"/>
            <a:ext cx="487055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노드 1회 실행의 "작업 종류 + 해상도 버킷" 식별자.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해상도가 다르면 다른 키 → 기준시간(baseline)은 이 키 단위로 쌓인다.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2852928"/>
            <a:ext cx="2380411" cy="201168"/>
          </a:xfrm>
          <a:prstGeom prst="roundRect">
            <a:avLst>
              <a:gd name="adj" fmla="val 35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BOKEH(MP12)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3099" y="2852928"/>
            <a:ext cx="2380411" cy="201168"/>
          </a:xfrm>
          <a:prstGeom prst="roundRect">
            <a:avLst>
              <a:gd name="adj" fmla="val 35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DYNAMIC_FUNCTION(MP12)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081528"/>
            <a:ext cx="2380411" cy="201168"/>
          </a:xfrm>
          <a:prstGeom prst="roundRect">
            <a:avLst>
              <a:gd name="adj" fmla="val 35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DECODING(MP12)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3099" y="3081528"/>
            <a:ext cx="2380411" cy="201168"/>
          </a:xfrm>
          <a:prstGeom prst="roundRect">
            <a:avLst>
              <a:gd name="adj" fmla="val 35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FILTER(MP12)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3310128"/>
            <a:ext cx="2380411" cy="201168"/>
          </a:xfrm>
          <a:prstGeom prst="roundRect">
            <a:avLst>
              <a:gd name="adj" fmla="val 35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WATERMARK(MP12, OVERLAY)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3099" y="3310128"/>
            <a:ext cx="2380411" cy="201168"/>
          </a:xfrm>
          <a:prstGeom prst="roundRect">
            <a:avLst>
              <a:gd name="adj" fmla="val 35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ENCODING(MP12, JPEG)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863" y="1408176"/>
            <a:ext cx="5419191" cy="2249424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" descr="icon_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183" y="1664208"/>
            <a:ext cx="329184" cy="3291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65111" y="1627632"/>
            <a:ext cx="43219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WorkloadSequenceKey</a:t>
            </a:r>
            <a:r>
              <a:rPr sz="17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  —  판단의 단위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8183" y="2121408"/>
            <a:ext cx="487055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"지금 이 노드부터 드래프트 끝까지" 남은 workload 를 순서대로 묶은 suffix 키.</a:t>
            </a:r>
          </a:p>
          <a:p>
            <a:pPr algn="l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Bokeh 실행 여부는 Bokeh 하나가 아니라 "Bokeh 이후 남은 전부"의 소요시간으로 판단한다. 안전마진도 이 키 단위로 학습한다.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8183" y="3163824"/>
            <a:ext cx="4870551" cy="292608"/>
          </a:xfrm>
          <a:prstGeom prst="roundRect">
            <a:avLst>
              <a:gd name="adj" fmla="val 30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BOKEH &gt; DYNAMIC_FUNCTION &gt; DECODING &gt; … &gt; ENCODING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59936"/>
            <a:ext cx="1494782" cy="713232"/>
          </a:xfrm>
          <a:prstGeom prst="roundRect">
            <a:avLst>
              <a:gd name="adj" fmla="val 1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BOKEH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 i="0">
                <a:solidFill>
                  <a:srgbClr val="E9EFF7"/>
                </a:solidFill>
                <a:latin typeface="Consolas"/>
                <a:ea typeface="Consolas"/>
                <a:cs typeface="Consolas"/>
              </a:rPr>
              <a:t>MP12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5134" y="4279392"/>
            <a:ext cx="1417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48578" y="4059936"/>
            <a:ext cx="1494782" cy="71323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DYNAMIC
FUNCTION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MP12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5073" y="4279392"/>
            <a:ext cx="1417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8517" y="4059936"/>
            <a:ext cx="1494782" cy="71323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DECODING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MP12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5012" y="4279392"/>
            <a:ext cx="1417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48456" y="4059936"/>
            <a:ext cx="1494782" cy="71323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FILTER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MP12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4950" y="4279392"/>
            <a:ext cx="1417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8394" y="4059936"/>
            <a:ext cx="1494782" cy="71323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DECODING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MP12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4889" y="4279392"/>
            <a:ext cx="1417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48333" y="4059936"/>
            <a:ext cx="1494782" cy="71323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WATERMARK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OVERLAY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24828" y="4279392"/>
            <a:ext cx="14173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48272" y="4059936"/>
            <a:ext cx="1494782" cy="713232"/>
          </a:xfrm>
          <a:prstGeom prst="roundRect">
            <a:avLst>
              <a:gd name="adj" fmla="val 10000"/>
            </a:avLst>
          </a:prstGeom>
          <a:solidFill>
            <a:srgbClr val="F2F5FA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6400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ENCODING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JPEG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67328"/>
            <a:ext cx="110944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한 장의 캡처가 실제로 태운 노드 체인 </a:t>
            </a:r>
            <a:r>
              <a:rPr sz="11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(세션 첫 캡처 #790, SM-S948U / MP12)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864608"/>
            <a:ext cx="11094415" cy="246888"/>
          </a:xfrm>
          <a:prstGeom prst="roundRect">
            <a:avLst>
              <a:gd name="adj" fmla="val 4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Bokeh 판단 시점의 WorkloadSequenceKey  —  뒤따르는 workload 7개 전부를 하나의 키로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48456" y="5157216"/>
            <a:ext cx="6294598" cy="246888"/>
          </a:xfrm>
          <a:prstGeom prst="roundRect">
            <a:avLst>
              <a:gd name="adj" fmla="val 4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Filter 판단 시점  —  남은 4개가 또 다른 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596128"/>
            <a:ext cx="11094415" cy="822960"/>
          </a:xfrm>
          <a:prstGeom prst="roundRect">
            <a:avLst>
              <a:gd name="adj" fmla="val 6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118872" bIns="9144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 키를 나눈 이유:  </a:t>
            </a:r>
            <a:r>
              <a:rPr sz="1250" b="1" i="0">
                <a:solidFill>
                  <a:srgbClr val="8FD6D7"/>
                </a:solidFill>
                <a:latin typeface="Consolas"/>
                <a:ea typeface="Consolas"/>
                <a:cs typeface="Consolas"/>
              </a:rPr>
              <a:t>WorkloadKey</a:t>
            </a:r>
            <a:r>
              <a:rPr sz="1250" b="0" i="0">
                <a:solidFill>
                  <a:srgbClr val="E9EFF7"/>
                </a:solidFill>
                <a:latin typeface="Malgun Gothic"/>
                <a:ea typeface="Malgun Gothic"/>
                <a:cs typeface="Malgun Gothic"/>
              </a:rPr>
              <a:t>는 해상도별 소요시간을 안정적으로 쌓는 </a:t>
            </a:r>
            <a:r>
              <a:rPr sz="12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단위</a:t>
            </a:r>
            <a:r>
              <a:rPr sz="1250" b="0" i="0">
                <a:solidFill>
                  <a:srgbClr val="E9EFF7"/>
                </a:solidFill>
                <a:latin typeface="Malgun Gothic"/>
                <a:ea typeface="Malgun Gothic"/>
                <a:cs typeface="Malgun Gothic"/>
              </a:rPr>
              <a:t>이고,  </a:t>
            </a:r>
            <a:r>
              <a:rPr sz="1250" b="1" i="0">
                <a:solidFill>
                  <a:srgbClr val="F5C487"/>
                </a:solidFill>
                <a:latin typeface="Consolas"/>
                <a:ea typeface="Consolas"/>
                <a:cs typeface="Consolas"/>
              </a:rPr>
              <a:t>WorkloadSequenceKey</a:t>
            </a:r>
            <a:r>
              <a:rPr sz="1250" b="0" i="0">
                <a:solidFill>
                  <a:srgbClr val="E9EFF7"/>
                </a:solidFill>
                <a:latin typeface="Malgun Gothic"/>
                <a:ea typeface="Malgun Gothic"/>
                <a:cs typeface="Malgun Gothic"/>
              </a:rPr>
              <a:t>는 "이 조합이 예측보다 얼마나 더 걸렸나"를 쌓는 </a:t>
            </a:r>
            <a:r>
              <a:rPr sz="12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 단위</a:t>
            </a:r>
            <a:r>
              <a:rPr sz="1250" b="0" i="0">
                <a:solidFill>
                  <a:srgbClr val="E9EFF7"/>
                </a:solidFill>
                <a:latin typeface="Malgun Gothic"/>
                <a:ea typeface="Malgun Gothic"/>
                <a:cs typeface="Malgun Gothic"/>
              </a:rPr>
              <a:t>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 i="0">
                <a:solidFill>
                  <a:srgbClr val="A9B6CC"/>
                </a:solidFill>
                <a:latin typeface="Malgun Gothic"/>
                <a:ea typeface="Malgun Gothic"/>
                <a:cs typeface="Malgun Gothic"/>
              </a:rPr>
              <a:t>같은 Bokeh 라도 뒤에 무엇이 붙느냐에 따라 위험도가 다르므로, 안전마진은 workload 별이 아니라 시퀀스 조합별로 학습한다.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산정 절차: 예측 경로와 학습 경로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기준시간 · 상태배수 · 안전배수 — 무엇으로부터, 어떤 순서로 만들어지는가. 캡처 k 의 실측이 캡처 k+1 의 예측을 만든다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예측 경로</a:t>
            </a:r>
            <a:r>
              <a:rPr sz="12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 노드가 실행되려는 순간, 지금 가진 모델 상태만 읽어 계산한다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82496"/>
            <a:ext cx="1999427" cy="157276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47088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856232"/>
            <a:ext cx="12861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16336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baseline  ·  WorkloadKey 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87168"/>
            <a:ext cx="1633667" cy="26517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기준시간(w)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16352"/>
            <a:ext cx="163366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실측을 그때의 상태배수로 나눠 쌓은 등가중 평균. 발열이 제거된 크기별 앵커.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93787" y="2386584"/>
            <a:ext cx="182879" cy="164592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22387" y="1682496"/>
            <a:ext cx="1999427" cy="157276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05267" y="1847088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739" y="1856232"/>
            <a:ext cx="12861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2249424"/>
            <a:ext cx="16336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condition  ·  전 workload 공유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5267" y="2487168"/>
            <a:ext cx="1633667" cy="26517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× 상태배수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5267" y="2816352"/>
            <a:ext cx="163366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최근 (실측÷기준시간) 비율 분포의 중앙값. "지금 평소보다 몇 배 느린가".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7534" y="2386584"/>
            <a:ext cx="182879" cy="164592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96134" y="1682496"/>
            <a:ext cx="1999427" cy="157276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279014" y="1847088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26486" y="1856232"/>
            <a:ext cx="12861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9014" y="2249424"/>
            <a:ext cx="16336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시퀀스 전체의 중심값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79014" y="2487168"/>
            <a:ext cx="1633667" cy="26517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Σ = 점추정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79014" y="2816352"/>
            <a:ext cx="163366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시퀀스에 속한 workload 예측을 모두 더한 값. 여기까지가 "평소".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41281" y="2386584"/>
            <a:ext cx="182879" cy="164592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369881" y="1682496"/>
            <a:ext cx="1999427" cy="157276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52761" y="1847088"/>
            <a:ext cx="274320" cy="274320"/>
          </a:xfrm>
          <a:prstGeom prst="ellipse">
            <a:avLst/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0233" y="1856232"/>
            <a:ext cx="12861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761" y="2249424"/>
            <a:ext cx="16336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upper bound  ·  안전배수는 시퀀스 키별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52761" y="2487168"/>
            <a:ext cx="1633667" cy="26517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× 안전배수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761" y="2816352"/>
            <a:ext cx="163366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이 조합이 과거에 예측을 초과한 배율만큼 부풀린다. 안전한 값은 여기서 생긴다.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9415028" y="2386584"/>
            <a:ext cx="182879" cy="164592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643628" y="1682496"/>
            <a:ext cx="1999427" cy="157276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826508" y="1847088"/>
            <a:ext cx="274320" cy="274320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73980" y="1856232"/>
            <a:ext cx="12861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admit 판정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6508" y="2249424"/>
            <a:ext cx="16336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budget = 데드라인까지 남은 시간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26508" y="2487168"/>
            <a:ext cx="1633667" cy="26517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안전상한 ≤ budget 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6508" y="2816352"/>
            <a:ext cx="1633667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점추정이 아니라 안전상한으로 비교한다. 넘으면 실행하지 않는다.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3401568"/>
            <a:ext cx="11094415" cy="310896"/>
          </a:xfrm>
          <a:prstGeom prst="roundRect">
            <a:avLst>
              <a:gd name="adj" fmla="val 4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8FD6D7"/>
                </a:solidFill>
                <a:latin typeface="Malgun Gothic"/>
                <a:ea typeface="Malgun Gothic"/>
                <a:cs typeface="Malgun Gothic"/>
              </a:rPr>
              <a:t>▲  위 경로는 갱신 전 상태로 읽는다</a:t>
            </a:r>
            <a:r>
              <a:rPr sz="1050" b="0" i="0">
                <a:solidFill>
                  <a:srgbClr val="E9EFF7"/>
                </a:solidFill>
                <a:latin typeface="Malgun Gothic"/>
                <a:ea typeface="Malgun Gothic"/>
                <a:cs typeface="Malgun Gothic"/>
              </a:rPr>
              <a:t>        캡처가 끝나면 아래 세 갱신이 일어나고, 그 결과를 다음 캡처가 읽는다  </a:t>
            </a:r>
            <a:r>
              <a:rPr sz="1050" b="1" i="0">
                <a:solidFill>
                  <a:srgbClr val="F5C487"/>
                </a:solidFill>
                <a:latin typeface="Malgun Gothic"/>
                <a:ea typeface="Malgun Gothic"/>
                <a:cs typeface="Malgun Gothic"/>
              </a:rPr>
              <a:t>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840480"/>
            <a:ext cx="110944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학습 경로</a:t>
            </a:r>
            <a:r>
              <a:rPr sz="12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 캡처 종료 시 실측 한 벌로 세 분포를 갱신한다 (오래된 표본은 매 캡처 0.9배로 감쇠)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151376"/>
            <a:ext cx="3515258" cy="1408176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9808" y="4325112"/>
            <a:ext cx="274320" cy="274320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4334256"/>
            <a:ext cx="27471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상태배수 갱신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9808" y="4681728"/>
            <a:ext cx="3112922" cy="26517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실측 ÷ 기준시간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4974336"/>
            <a:ext cx="311292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워크로드마다 비율 한 개씩 넣고, 분포의 중앙값을 새 상태배수로.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5321808"/>
            <a:ext cx="311292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중앙값 → 한 장 튄 값에 둔감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38218" y="4151376"/>
            <a:ext cx="3515258" cy="1408176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39386" y="4325112"/>
            <a:ext cx="274320" cy="274320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905146" y="4334256"/>
            <a:ext cx="27471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기준시간 갱신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39386" y="4681728"/>
            <a:ext cx="3112922" cy="26517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실측 ÷ 상태배수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39386" y="4974336"/>
            <a:ext cx="311292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발열을 제거한 값을 크기별 등가중 평균에 누적. 1/n 가중이라 앵커가 흔들리지 않는다.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39386" y="5321808"/>
            <a:ext cx="311292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등가중 평균 → 구조가 유지됨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127796" y="4151376"/>
            <a:ext cx="3515258" cy="1408176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328964" y="4325112"/>
            <a:ext cx="274320" cy="274320"/>
          </a:xfrm>
          <a:prstGeom prst="ellipse">
            <a:avLst/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94724" y="4334256"/>
            <a:ext cx="27471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안전배수 갱신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28964" y="4681728"/>
            <a:ext cx="3112922" cy="265176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 w="12700">
            <a:solidFill>
              <a:srgbClr val="D5DE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max(1.0, 실측 ÷ 점추정)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8964" y="4974336"/>
            <a:ext cx="311292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초과한 배율만 시퀀스 키별로 넣는다. 다음 안전배수는 이 분포의 expected maximum.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8964" y="5321808"/>
            <a:ext cx="3112922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expected maximum → 표본 수가 범위를 정함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5614416"/>
            <a:ext cx="11094415" cy="786384"/>
          </a:xfrm>
          <a:prstGeom prst="roundRect">
            <a:avLst>
              <a:gd name="adj" fmla="val 5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00584" bIns="73152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두 경로를 분리한 이유:  </a:t>
            </a:r>
            <a:r>
              <a:rPr sz="110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예측은 갱신 전 상태를, 학습은 갱신 후 상태를 쓴다. 한 캡처 안에서 자기 실측이 자기 예측을 바꾸는 되먹임이 없다.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코드에서는 안전배수를 로그로 저장한다 —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C = ln(안전배수),  UB = 점추정 × e^C</a:t>
            </a:r>
            <a:r>
              <a:rPr sz="9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. 상한은 꼬리부터 훑으며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max(자기 suffix 상한,  머리 점추정 + 뒤 suffix 상한)</a:t>
            </a:r>
            <a:r>
              <a:rPr sz="9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를 취해 중첩 시퀀스의 상한이 역전되지 않게 한다.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안전배수 표본의 "실측"은 workload 별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max(예측,실측)</a:t>
            </a:r>
            <a:r>
              <a:rPr sz="9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의 합 — 한 workload 가 빨리 끝나 다른 workload 의 초과가 희석되지 않도록.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5399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1–2 : 백지에서 첫 예측이 나오기까지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384048"/>
            <a:ext cx="1371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샷 1–2 /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59536"/>
            <a:ext cx="110944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 → ② 예측 → ③ 실측 → ④ 되돌려준 것.  ④ 의 오른쪽 값이 다음 샷 ① 의 값이 된다.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115568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1133856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1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1161288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백지 — 예측이 0 이라 판단 자체가 성립하지 않는다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86537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8126" y="184708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26771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8126" y="224942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67004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8126" y="265176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167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798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7983" y="177393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1166" y="175564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10312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7983" y="2258568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166" y="2084831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983" y="246888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166" y="245059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6427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798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 (비교 불가)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471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102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1023" y="1755648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8223" y="1773936"/>
            <a:ext cx="27432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97799" y="1746504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1023" y="1993392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18223" y="2011680"/>
            <a:ext cx="27432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97799" y="198424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1023" y="2231136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18223" y="2249424"/>
            <a:ext cx="709604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97799" y="2221992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751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61023" y="2468880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374 ms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6102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◦  기준 없음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775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9406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4063" y="177393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=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4063" y="195681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비율 표본 없음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4063" y="213969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—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374.0</a:t>
            </a:r>
            <a:r>
              <a:rPr sz="9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  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4063" y="232257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374 ÷ 1.000 = 374.0 누적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4063" y="250545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=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94063" y="268833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초과 표본 없음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18051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601355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ight Arrow 48"/>
          <p:cNvSpPr/>
          <p:nvPr/>
        </p:nvSpPr>
        <p:spPr>
          <a:xfrm>
            <a:off x="884659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976" y="3035808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2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78608" y="3063239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첫 기준시간으로 예측이 생긴다. 초과 이력이 없어 마진은 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944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" y="376732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08126" y="374904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374.0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944" y="4169663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08126" y="4151376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4944" y="457200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08126" y="455371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8167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52798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27983" y="3675887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41166" y="3657599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752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7983" y="400507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27983" y="4160520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1.000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41166" y="398678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752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27983" y="4370831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41166" y="435254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6010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2798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1471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6102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1023" y="3657599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6818223" y="3675887"/>
            <a:ext cx="710549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997799" y="3648456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752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61023" y="389534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818223" y="3913631"/>
            <a:ext cx="710549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97799" y="3886199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752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1023" y="4133087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818223" y="4151375"/>
            <a:ext cx="503621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997799" y="4123943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533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61023" y="4370831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224 ms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36102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상한 이내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04775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19406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94063" y="367588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0.824</a:t>
            </a:r>
            <a:r>
              <a:rPr sz="9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  ▼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94063" y="385876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실측÷기준시간 6개 → 중앙값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94063" y="4041648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374.0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299.0</a:t>
            </a:r>
            <a:r>
              <a:rPr sz="9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  ▼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94063" y="422452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224 ÷ 1.000 = 224.0 누적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94063" y="440740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=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194063" y="459028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표본 752.0 ÷ 752.0 = 1.000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318051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ight Arrow 92"/>
          <p:cNvSpPr/>
          <p:nvPr/>
        </p:nvSpPr>
        <p:spPr>
          <a:xfrm>
            <a:off x="601355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ight Arrow 93"/>
          <p:cNvSpPr/>
          <p:nvPr/>
        </p:nvSpPr>
        <p:spPr>
          <a:xfrm>
            <a:off x="884659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8640" y="4919472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여기까지 누적  샷 1 → 2</a:t>
            </a:r>
            <a:r>
              <a:rPr sz="10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   초과 이력이 없으면 안전상한은 점추정과 같다 — 이때의 상한은 안전을 보장하지 않는다.</a:t>
            </a:r>
          </a:p>
        </p:txBody>
      </p:sp>
      <p:pic>
        <p:nvPicPr>
          <p:cNvPr id="96" name="Picture 95" descr="cumu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38928"/>
            <a:ext cx="11094415" cy="11890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5399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3–4 : 상태배수가 내려오고, 안전마진이 태어난다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384048"/>
            <a:ext cx="1371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샷 3–4 / 10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15568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133856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3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1161288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시퀀스 합은 예측 이내인데, 개별 workload 초과가 첫 마진 표본을 만든다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86537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8126" y="184708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299.0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6771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8126" y="224942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0.824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67004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8126" y="265176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167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798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177393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166" y="175564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529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210312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258568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166" y="2084831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529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246888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166" y="245059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5818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798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471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102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1023" y="1755648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8223" y="1773936"/>
            <a:ext cx="500122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7799" y="1746504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1023" y="1993392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8223" y="2011680"/>
            <a:ext cx="500122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97799" y="198424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529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023" y="2231136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8223" y="2249424"/>
            <a:ext cx="494172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7799" y="2221992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523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023" y="2468880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217 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102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상한 이내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4775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406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4063" y="177393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0.824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0.830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4063" y="195681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실측÷기준시간 6개 → 중앙값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4063" y="213969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299.0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287.1</a:t>
            </a:r>
            <a:r>
              <a:rPr sz="9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  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4063" y="232257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217 ÷ 0.824 = 263.4 누적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4063" y="250545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1.054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4063" y="268833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표본 557.8 ÷ 529.3 = 1.054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18051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601355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884659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" y="3035808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4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3063239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마진이 처음 눈에 보인다 — 안전상한 561 이 점추정 531 위로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376732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08126" y="374904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287.1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" y="4169663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08126" y="4151376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0.830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" y="457200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08126" y="455371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1.054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8167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798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27983" y="3675887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1166" y="3657599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531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7983" y="400507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7983" y="4160520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1.054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41166" y="398678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561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27983" y="4370831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41166" y="435254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5618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2798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471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6102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61023" y="3657599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18223" y="3675887"/>
            <a:ext cx="502056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97799" y="3648456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1023" y="389534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18223" y="3913631"/>
            <a:ext cx="529930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97799" y="3886199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561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61023" y="4133087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18223" y="4151375"/>
            <a:ext cx="507400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97799" y="4123943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537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1023" y="4370831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221 ms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6102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상한 이내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4775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9406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94063" y="367588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0.830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0.835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94063" y="385876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실측÷기준시간 6개 → 중앙값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94063" y="4041648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287.1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281.9</a:t>
            </a:r>
            <a:r>
              <a:rPr sz="9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  ▼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94063" y="422452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221 ÷ 0.830 = 266.2 누적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94063" y="440740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1.054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1.054</a:t>
            </a:r>
            <a:r>
              <a:rPr sz="9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=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94063" y="459028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표본 557.2 ÷ 531.3 = 1.049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318051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ight Arrow 91"/>
          <p:cNvSpPr/>
          <p:nvPr/>
        </p:nvSpPr>
        <p:spPr>
          <a:xfrm>
            <a:off x="601355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ight Arrow 92"/>
          <p:cNvSpPr/>
          <p:nvPr/>
        </p:nvSpPr>
        <p:spPr>
          <a:xfrm>
            <a:off x="884659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4919472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여기까지 누적  샷 1 → 4</a:t>
            </a:r>
            <a:r>
              <a:rPr sz="10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   샷 3 은 시퀀스 합(523)이 점추정(529) 이내였지만 하한적용 합 558 이 첫 마진을 만들었다.</a:t>
            </a:r>
          </a:p>
        </p:txBody>
      </p:sp>
      <p:pic>
        <p:nvPicPr>
          <p:cNvPr id="95" name="Picture 94" descr="cumul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38928"/>
            <a:ext cx="11094415" cy="11890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5399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5–6 : 작은 초과는 무시되고, 큰 초과가 도착한다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384048"/>
            <a:ext cx="1371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샷 5–6 / 10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15568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133856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5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1161288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이번 초과 배율은 더 작다 → 안전배수는 상위값 1.054 를 유지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86537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8126" y="184708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281.9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6771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8126" y="224942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0.835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67004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8126" y="265176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1.054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167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798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177393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166" y="175564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536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210312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258568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1.054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166" y="2084831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566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246888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166" y="245059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5626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798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471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102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1023" y="1755648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8223" y="1773936"/>
            <a:ext cx="506470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7799" y="1746504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1023" y="1993392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8223" y="2011680"/>
            <a:ext cx="535067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97799" y="198424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566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023" y="2231136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8223" y="2249424"/>
            <a:ext cx="484723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7799" y="2221992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513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023" y="2468880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217 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102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상한 이내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4775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406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4063" y="177393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0.835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0.830</a:t>
            </a:r>
            <a:r>
              <a:rPr sz="9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  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4063" y="195681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실측÷기준시간 6개 → 중앙값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4063" y="213969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281.9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277.5</a:t>
            </a:r>
            <a:r>
              <a:rPr sz="900" b="1" i="0">
                <a:solidFill>
                  <a:srgbClr val="0F8B8D"/>
                </a:solidFill>
                <a:latin typeface="Malgun Gothic"/>
                <a:ea typeface="Malgun Gothic"/>
                <a:cs typeface="Malgun Gothic"/>
              </a:rPr>
              <a:t>  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4063" y="232257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217 ÷ 0.835 = 259.8 누적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4063" y="250545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1.054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1.054</a:t>
            </a:r>
            <a:r>
              <a:rPr sz="9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=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4063" y="268833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표본 542.2 ÷ 536.0 = 1.012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18051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601355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884659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" y="3035808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6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3063239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 681 이 안전상한 558 을 넘는다 — 초과분이 그대로 표본이 된다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376732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08126" y="374904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277.5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" y="4169663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08126" y="4151376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0.830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" y="457200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08126" y="455371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1.054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8167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798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27983" y="3675887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1166" y="3657599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528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7983" y="400507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7983" y="4160520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1.054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41166" y="398678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558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27983" y="4370831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41166" y="435254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5533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2798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471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6102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61023" y="3657599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18223" y="3675887"/>
            <a:ext cx="499257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97799" y="3648456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528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1023" y="389534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18223" y="3913631"/>
            <a:ext cx="527613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97799" y="3886199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558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61023" y="4133087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18223" y="4151375"/>
            <a:ext cx="643463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97799" y="4123943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681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1023" y="4370831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234 ms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6102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C4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✗  상한 초과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4775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9406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94063" y="367588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0.830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0.843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94063" y="385876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실측÷기준시간 6개 → 중앙값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94063" y="4041648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277.5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278.2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94063" y="422452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234 ÷ 0.830 = 281.8 누적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94063" y="440740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1.054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1.292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94063" y="459028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표본 682.6 ÷ 528.4 = 1.292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318051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ight Arrow 91"/>
          <p:cNvSpPr/>
          <p:nvPr/>
        </p:nvSpPr>
        <p:spPr>
          <a:xfrm>
            <a:off x="601355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ight Arrow 92"/>
          <p:cNvSpPr/>
          <p:nvPr/>
        </p:nvSpPr>
        <p:spPr>
          <a:xfrm>
            <a:off x="884659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4919472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여기까지 누적  샷 1 → 6</a:t>
            </a:r>
            <a:r>
              <a:rPr sz="10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   샷 6 의 초과가 안전배수를 1.054 → 1.292 로, 마진을 5.4% → 29.2% 로 넓힌다.</a:t>
            </a:r>
          </a:p>
        </p:txBody>
      </p:sp>
      <p:pic>
        <p:nvPicPr>
          <p:cNvPr id="95" name="Picture 94" descr="cumul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38928"/>
            <a:ext cx="11094415" cy="11890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5399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7–8 : 마진이 두 번 커지고 나서야 실측을 덮는다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384048"/>
            <a:ext cx="1371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샷 7–8 / 10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15568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133856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7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1161288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마진을 키웠는데도 또 넘는다 → 안전배수 1.504 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86537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8126" y="184708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278.2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6771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8126" y="224942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0.843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67004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8126" y="265176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1.292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167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798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177393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166" y="175564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563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210312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258568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1.292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166" y="2084831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729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246888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166" y="245059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5175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798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471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102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1023" y="1755648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8223" y="1773936"/>
            <a:ext cx="531514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7799" y="1746504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563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1023" y="1993392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8223" y="2011680"/>
            <a:ext cx="688453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97799" y="198424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729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023" y="2231136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8223" y="2249424"/>
            <a:ext cx="798423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7799" y="2221992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845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023" y="2468880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381 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102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C4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✗  상한 초과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4775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406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4063" y="177393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0.843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0.890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4063" y="195681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실측÷기준시간 6개 → 중앙값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4063" y="213969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278.2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303.0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4063" y="232257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381 ÷ 0.843 = 451.8 누적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4063" y="250545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1.292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4063" y="268833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표본 846.0 ÷ 562.5 = 1.504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18051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601355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884659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" y="3035808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8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3063239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넓어진 마진이 실측을 덮는다. 동시에 발열이 상태배수를 올린다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376732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08126" y="374904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303.0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" y="4169663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08126" y="4151376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0.890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" y="457200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08126" y="455371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8167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798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27983" y="3675887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1166" y="3657599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637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7983" y="400507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7983" y="4160520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1.504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41166" y="398678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958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27983" y="4370831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41166" y="435254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4691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2798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471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6102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61023" y="3657599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18223" y="3675887"/>
            <a:ext cx="601588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97799" y="3648456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637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1023" y="389534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18223" y="3913631"/>
            <a:ext cx="904755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97799" y="3886199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958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61023" y="4133087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18223" y="4151375"/>
            <a:ext cx="812596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97799" y="4123943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860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1023" y="4370831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382 ms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6102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상한 이내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4775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9406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94063" y="367588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0.890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0.933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94063" y="385876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실측÷기준시간 6개 → 중앙값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94063" y="4041648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303.0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318.7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94063" y="422452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382 ÷ 0.890 = 429.0 누적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94063" y="440740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9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=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94063" y="459028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표본 863.0 ÷ 636.7 = 1.355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318051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ight Arrow 91"/>
          <p:cNvSpPr/>
          <p:nvPr/>
        </p:nvSpPr>
        <p:spPr>
          <a:xfrm>
            <a:off x="601355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ight Arrow 92"/>
          <p:cNvSpPr/>
          <p:nvPr/>
        </p:nvSpPr>
        <p:spPr>
          <a:xfrm>
            <a:off x="884659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4919472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여기까지 누적  샷 1 → 8</a:t>
            </a:r>
            <a:r>
              <a:rPr sz="10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   샷 7 은 1.292배로도 또 넘겼고, 1.504배가 된 샷 8 에서야 실측이 상한 안에 들어왔다.</a:t>
            </a:r>
          </a:p>
        </p:txBody>
      </p:sp>
      <p:pic>
        <p:nvPicPr>
          <p:cNvPr id="95" name="Picture 94" descr="cumul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38928"/>
            <a:ext cx="11094415" cy="11890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9539935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9–10 : 기준시간은 멈추고 상태배수만 움직인다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71455" y="384048"/>
            <a:ext cx="13716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샷 9–10 / 10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115568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" y="1133856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9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78608" y="1161288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기준시간은 319 에서 거의 멈췄는데 점추정만 올라간다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86537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8126" y="184708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318.7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26771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8126" y="224942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0.933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67004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8126" y="265176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167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798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7983" y="1773936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1166" y="1755648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697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7983" y="210312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7983" y="2258568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1.504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1166" y="2084831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1048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246888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166" y="245059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4187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798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471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102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1023" y="1755648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8223" y="1773936"/>
            <a:ext cx="658688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97799" y="1746504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697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1023" y="1993392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18223" y="2011680"/>
            <a:ext cx="990631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97799" y="1984248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1048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1023" y="2231136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8223" y="2249424"/>
            <a:ext cx="757793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97799" y="2221992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802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61023" y="2468880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313 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1023" y="2688336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상한 이내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47759" y="1444752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94063" y="1563624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94063" y="177393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0.933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94063" y="195681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실측÷기준시간 6개 → 중앙값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4063" y="213969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318.7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320.6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94063" y="232257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313 ÷ 0.933 = 335.3 누적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94063" y="2505456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9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=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94063" y="2688336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표본 802.0 ÷ 697.1 = 1.150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318051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ight Arrow 46"/>
          <p:cNvSpPr/>
          <p:nvPr/>
        </p:nvSpPr>
        <p:spPr>
          <a:xfrm>
            <a:off x="601355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8846591" y="2112264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" y="3035808"/>
            <a:ext cx="160020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샷 10</a:t>
            </a:r>
            <a:r>
              <a:rPr sz="12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 #799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3063239"/>
            <a:ext cx="906444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상태배수가 1.000 으로 복귀 — 예측 759, 안전상한 1142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① 이 샷이 읽은 상태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3767328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08126" y="3749040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320.6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" y="4169663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08126" y="4151376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" y="4572000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08126" y="4553712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8167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798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② 예측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27983" y="3675887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1166" y="3657599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759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27983" y="4005072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27983" y="4160520"/>
            <a:ext cx="1151343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점추정 × 1.504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41166" y="398678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50" b="1" i="0">
                <a:solidFill>
                  <a:srgbClr val="B5660C"/>
                </a:solidFill>
                <a:latin typeface="Consolas"/>
                <a:ea typeface="Consolas"/>
                <a:cs typeface="Consolas"/>
              </a:rPr>
              <a:t>1142</a:t>
            </a:r>
            <a:r>
              <a:rPr sz="8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27983" y="4370831"/>
            <a:ext cx="115134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budget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41166" y="4352544"/>
            <a:ext cx="1289505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3711</a:t>
            </a:r>
            <a:r>
              <a:rPr sz="75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ms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2798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실행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21471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6102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③ 실측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61023" y="3657599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점추정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818223" y="3675887"/>
            <a:ext cx="717443" cy="123444"/>
          </a:xfrm>
          <a:prstGeom prst="roundRect">
            <a:avLst>
              <a:gd name="adj" fmla="val 50000"/>
            </a:avLst>
          </a:prstGeom>
          <a:solidFill>
            <a:srgbClr val="0F8B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97799" y="3648456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8B8D"/>
                </a:solidFill>
                <a:latin typeface="Consolas"/>
                <a:ea typeface="Consolas"/>
                <a:cs typeface="Consolas"/>
              </a:rPr>
              <a:t>759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61023" y="3895344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안전상한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818223" y="3913631"/>
            <a:ext cx="1078995" cy="123444"/>
          </a:xfrm>
          <a:prstGeom prst="roundRect">
            <a:avLst>
              <a:gd name="adj" fmla="val 50000"/>
            </a:avLst>
          </a:prstGeom>
          <a:solidFill>
            <a:srgbClr val="E88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97799" y="3886199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8871E"/>
                </a:solidFill>
                <a:latin typeface="Consolas"/>
                <a:ea typeface="Consolas"/>
                <a:cs typeface="Consolas"/>
              </a:rPr>
              <a:t>1142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61023" y="4133087"/>
            <a:ext cx="457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실측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818223" y="4151375"/>
            <a:ext cx="769132" cy="123444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97799" y="4123943"/>
            <a:ext cx="475488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814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361023" y="4370831"/>
            <a:ext cx="2302687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Bokeh 단독  </a:t>
            </a:r>
            <a:r>
              <a:rPr sz="800" b="1" i="0">
                <a:solidFill>
                  <a:srgbClr val="3A4A6B"/>
                </a:solidFill>
                <a:latin typeface="Consolas"/>
                <a:ea typeface="Consolas"/>
                <a:cs typeface="Consolas"/>
              </a:rPr>
              <a:t>335 ms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361023" y="4590288"/>
            <a:ext cx="2302687" cy="201168"/>
          </a:xfrm>
          <a:prstGeom prst="roundRect">
            <a:avLst>
              <a:gd name="adj" fmla="val 32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  상한 이내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047759" y="3346703"/>
            <a:ext cx="2595295" cy="1481328"/>
          </a:xfrm>
          <a:prstGeom prst="roundRect">
            <a:avLst>
              <a:gd name="adj" fmla="val 4000"/>
            </a:avLst>
          </a:prstGeom>
          <a:solidFill>
            <a:srgbClr val="E9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194063" y="3465575"/>
            <a:ext cx="230268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④ 캡처 종료 → 다음 상태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94063" y="367588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상태배수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1.000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1.019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94063" y="385876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실측÷기준시간 6개 → 중앙값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94063" y="4041648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320.6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322.0</a:t>
            </a:r>
            <a:r>
              <a:rPr sz="900" b="1" i="0">
                <a:solidFill>
                  <a:srgbClr val="E8871E"/>
                </a:solidFill>
                <a:latin typeface="Malgun Gothic"/>
                <a:ea typeface="Malgun Gothic"/>
                <a:cs typeface="Malgun Gothic"/>
              </a:rPr>
              <a:t>  ▲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94063" y="422452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335 ÷ 1.000 = 335.0 누적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94063" y="4407407"/>
            <a:ext cx="2302687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  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900" b="0" i="0">
                <a:solidFill>
                  <a:srgbClr val="6B7A90"/>
                </a:solidFill>
                <a:latin typeface="Consolas"/>
                <a:ea typeface="Consolas"/>
                <a:cs typeface="Consolas"/>
              </a:rPr>
              <a:t>  →  </a:t>
            </a:r>
            <a:r>
              <a:rPr sz="900" b="1" i="0">
                <a:solidFill>
                  <a:srgbClr val="16213E"/>
                </a:solidFill>
                <a:latin typeface="Consolas"/>
                <a:ea typeface="Consolas"/>
                <a:cs typeface="Consolas"/>
              </a:rPr>
              <a:t>1.504</a:t>
            </a:r>
            <a:r>
              <a:rPr sz="900" b="1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=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94063" y="4590288"/>
            <a:ext cx="230268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표본 817.5 ÷ 759.3 = 1.077</a:t>
            </a:r>
          </a:p>
        </p:txBody>
      </p:sp>
      <p:sp>
        <p:nvSpPr>
          <p:cNvPr id="91" name="Right Arrow 90"/>
          <p:cNvSpPr/>
          <p:nvPr/>
        </p:nvSpPr>
        <p:spPr>
          <a:xfrm>
            <a:off x="318051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ight Arrow 91"/>
          <p:cNvSpPr/>
          <p:nvPr/>
        </p:nvSpPr>
        <p:spPr>
          <a:xfrm>
            <a:off x="601355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ight Arrow 92"/>
          <p:cNvSpPr/>
          <p:nvPr/>
        </p:nvSpPr>
        <p:spPr>
          <a:xfrm>
            <a:off x="8846591" y="4014215"/>
            <a:ext cx="164592" cy="146304"/>
          </a:xfrm>
          <a:prstGeom prst="rightArrow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48640" y="4919472"/>
            <a:ext cx="1109441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여기까지 누적  샷 1 → 10</a:t>
            </a:r>
            <a:r>
              <a:rPr sz="100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     기준시간은 고정, 발열은 상태배수 하나로 모여 점추정과 안전상한을 함께 끌어올린다.</a:t>
            </a:r>
          </a:p>
        </p:txBody>
      </p:sp>
      <p:pic>
        <p:nvPicPr>
          <p:cNvPr id="95" name="Picture 94" descr="cumul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138928"/>
            <a:ext cx="11094415" cy="1189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10샷을 겹쳐 놓으면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441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캡처 #790~#799 — 막대 = 안전상한(아래 점추정 + 위 안전마진), ◆ = 실측 시퀀스, 아래 = 상태배수</a:t>
            </a:r>
          </a:p>
        </p:txBody>
      </p:sp>
      <p:pic>
        <p:nvPicPr>
          <p:cNvPr id="4" name="Picture 3" descr="proces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3312"/>
            <a:ext cx="11094415" cy="260668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105656"/>
            <a:ext cx="3539642" cy="1316736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icon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4306824"/>
            <a:ext cx="310896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8719" y="4325112"/>
            <a:ext cx="268010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기준시간은 구조, 상태배수는 상태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4800600"/>
            <a:ext cx="310073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기준시간은 316~322 ms 에서 사실상 멈춰 있다. 10샷 동안 점추정을 529 → 759 로 올린 것은 전적으로 공유 상태배수(0.824 → 1.000)다.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6026" y="4105656"/>
            <a:ext cx="3539642" cy="1316736"/>
          </a:xfrm>
          <a:prstGeom prst="roundRect">
            <a:avLst>
              <a:gd name="adj" fmla="val 4000"/>
            </a:avLst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482" y="4306824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66106" y="4325112"/>
            <a:ext cx="268010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13E"/>
                </a:solidFill>
                <a:latin typeface="Malgun Gothic"/>
                <a:ea typeface="Malgun Gothic"/>
                <a:cs typeface="Malgun Gothic"/>
              </a:rPr>
              <a:t>마진은 겪은 만큼만 넓어진다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5482" y="4800600"/>
            <a:ext cx="310073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A4A6B"/>
                </a:solidFill>
                <a:latin typeface="Malgun Gothic"/>
                <a:ea typeface="Malgun Gothic"/>
                <a:cs typeface="Malgun Gothic"/>
              </a:rPr>
              <a:t>안전배수는 초과를 관측할 때만 커지고(1.000 → 1.054 → 1.292 → 1.504), 작은 표본으로는 줄지 않는다. 두 번 넘긴 뒤에야 실측을 덮는 폭이 되었다.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3412" y="4105656"/>
            <a:ext cx="3539642" cy="1316736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2868" y="4325112"/>
            <a:ext cx="310073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 기계가 처음 "아니오"라고 말할 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2868" y="4800600"/>
            <a:ext cx="310073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9EFF7"/>
                </a:solidFill>
                <a:latin typeface="Malgun Gothic"/>
                <a:ea typeface="Malgun Gothic"/>
                <a:cs typeface="Malgun Gothic"/>
              </a:rPr>
              <a:t>17번째 샷(#806)에서 budget 이 1008 ms 로 줄면 점추정 774 는 통과하지만 안전상한 1049 가 넘는다. Bokeh 는 여기서 처음 SKIP 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