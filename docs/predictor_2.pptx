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5dff96c6b74b35" /><Relationship Type="http://schemas.openxmlformats.org/officeDocument/2006/relationships/extended-properties" Target="/docProps/app.xml" Id="R0a43f7b87ac54f37" /><Relationship Type="http://schemas.openxmlformats.org/officeDocument/2006/relationships/officeDocument" Target="/ppt/presentation.xml" Id="R532a6ac2e49946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b5ce24855a4333"/>
  </p:sldMasterIdLst>
  <p:notesMasterIdLst>
    <p:notesMasterId xmlns:r="http://schemas.openxmlformats.org/officeDocument/2006/relationships" r:id="Rfae7e06a8b7a40c2"/>
  </p:notesMasterIdLst>
  <p:sldIdLst>
    <p:sldId xmlns:r="http://schemas.openxmlformats.org/officeDocument/2006/relationships" id="256" r:id="Rac851c64943a4a56"/>
    <p:sldId xmlns:r="http://schemas.openxmlformats.org/officeDocument/2006/relationships" id="257" r:id="R3f45b21135a445c3"/>
    <p:sldId xmlns:r="http://schemas.openxmlformats.org/officeDocument/2006/relationships" id="258" r:id="R4f23459715bc409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f43027a8a94496" /><Relationship Type="http://schemas.openxmlformats.org/officeDocument/2006/relationships/slideMaster" Target="/ppt/slideMasters/slideMaster1.xml" Id="Rdeb5ce24855a4333" /><Relationship Type="http://schemas.openxmlformats.org/officeDocument/2006/relationships/notesMaster" Target="/ppt/notesMasters/notesMaster1.xml" Id="Rfae7e06a8b7a40c2" /><Relationship Type="http://schemas.openxmlformats.org/officeDocument/2006/relationships/presProps" Target="/ppt/presProps.xml" Id="R23c46188907b4b62" /><Relationship Type="http://schemas.openxmlformats.org/officeDocument/2006/relationships/tableStyles" Target="/ppt/tableStyles.xml" Id="R575878b8de494a61" /><Relationship Type="http://schemas.openxmlformats.org/officeDocument/2006/relationships/slide" Target="/ppt/slides/slide1.xml" Id="Rac851c64943a4a56" /><Relationship Type="http://schemas.openxmlformats.org/officeDocument/2006/relationships/slide" Target="/ppt/slides/slide2.xml" Id="R3f45b21135a445c3" /><Relationship Type="http://schemas.openxmlformats.org/officeDocument/2006/relationships/slide" Target="/ppt/slides/slide3.xml" Id="R4f23459715bc40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665cc5f1d240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6c9a668dd34a4d" /><Relationship Type="http://schemas.openxmlformats.org/officeDocument/2006/relationships/notesMaster" Target="/ppt/notesMasters/notesMaster1.xml" Id="Rd2d21ba24daf43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9da49f827a432c" /><Relationship Type="http://schemas.openxmlformats.org/officeDocument/2006/relationships/notesMaster" Target="/ppt/notesMasters/notesMaster1.xml" Id="Rddc1d5c296b546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b9a71e405b4144" /><Relationship Type="http://schemas.openxmlformats.org/officeDocument/2006/relationships/notesMaster" Target="/ppt/notesMasters/notesMaster1.xml" Id="R57bb05b3a2594c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포인트: baseline은 WorkloadKey 단위, residual과 UB는 WorkloadSequenceKey suffix 단위로 관리됩니다.</a:t>
            </a:r>
          </a:p>
          <a:p xmlns:a="http://schemas.openxmlformats.org/drawingml/2006/main">
            <a:r>
              <a:t>Bokeh 행의 sequencePredictedDurationMs/UpperBoundMs는 Bokeh 단독 시간이 아니라 Bokeh부터 끝까지 남은 sequence 전체입니다.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C:\Users\sal_eunki\Desktop\ML\WorkloadKey.kt:7-18,19-53,58-65,78-92</a:t>
            </a:r>
          </a:p>
          <a:p xmlns:a="http://schemas.openxmlformats.org/drawingml/2006/main">
            <a:r>
              <a:t>- C:\Users\sal_eunki\Desktop\ML\WorkloadSequenceKey.kt:5-17,26-27</a:t>
            </a:r>
          </a:p>
          <a:p xmlns:a="http://schemas.openxmlformats.org/drawingml/2006/main">
            <a:r>
              <a:t>- C:\Users\sal_eunki\Desktop\ML\DraftSequenceExecutionProfiler.kt:79-109,194-220</a:t>
            </a:r>
          </a:p>
          <a:p xmlns:a="http://schemas.openxmlformats.org/drawingml/2006/main">
            <a:r>
              <a:t>- AI-generated pipeline visual: C:\Users\sal_eunki\Desktop\ML\.codex_tmp\draft_predictor_ppt\assets\pipeline_hero.png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패널은 같은 단위끼리 비교합니다: 실제 Bokeh node wall-time 대 Bokeh workload point입니다.</a:t>
            </a:r>
          </a:p>
          <a:p xmlns:a="http://schemas.openxmlformats.org/drawingml/2006/main">
            <a:r>
              <a:t>B 패널은 actual remaining suffix 합, full suffix point, suffix-corrected UB를 비교합니다. residual은 Bokeh 단독이 아니라 suffix 전체의 양의 초과를 사용합니다.</a:t>
            </a:r>
          </a:p>
          <a:p xmlns:a="http://schemas.openxmlformats.org/drawingml/2006/main">
            <a:r>
              <a:t>C 패널은 판단 직전의 shared condition factor와 residual multiplier exp(R)를 보여줍니다.</a:t>
            </a:r>
          </a:p>
          <a:p xmlns:a="http://schemas.openxmlformats.org/drawingml/2006/main">
            <a:r>
              <a:t>Capture 1은 완전 cold라 point=UB=0이고, 그 actual은 capture 2부터 baseline에 반영됩니다.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C:\Users\sal_eunki\Desktop\ML\data\0803_FULL\SM-S948U_metrics_12MP_normal_0803.xlsx, SecDualBokehNode!Z2:Z11, U2:U11, AI2:AJ11</a:t>
            </a:r>
          </a:p>
          <a:p xmlns:a="http://schemas.openxmlformats.org/drawingml/2006/main">
            <a:r>
              <a:t>- C:\Users\sal_eunki\Desktop\ML\DraftSequenceExecutionPredictor.kt:32-35,67-96,137-145,218-287,295-347</a:t>
            </a:r>
          </a:p>
          <a:p xmlns:a="http://schemas.openxmlformats.org/drawingml/2006/main">
            <a:r>
              <a:t>- C:\Users\sal_eunki\Desktop\ML\RecencyWeightedDistribution.kt:28-39,55-90,98-106</a:t>
            </a:r>
          </a:p>
          <a:p xmlns:a="http://schemas.openxmlformats.org/drawingml/2006/main">
            <a:r>
              <a:t>- Internal state reconstructed from all workload rows; full-suffix point maximum absolute error 5.68e-14 ms and corrected UB matches workbook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 1: baseline은 condition을 제거한 actual/f_pre의 lifetime equal-weight mean이며, condition은 모든 workload actual/b_pre 비율의 recency-weighted median입니다.</a:t>
            </a:r>
          </a:p>
          <a:p xmlns:a="http://schemas.openxmlformats.org/drawingml/2006/main">
            <a:r>
              <a:t>Step 2: 각 workload point를 더해 현재 node부터 끝까지의 suffix point를 만듭니다.</a:t>
            </a:r>
          </a:p>
          <a:p xmlns:a="http://schemas.openxmlformats.org/drawingml/2006/main">
            <a:r>
              <a:t>Step 3: workload별 underrun은 prediction으로 floor하여 한 workload의 빠름이 다른 workload의 spike를 상쇄하지 못하게 합니다.</a:t>
            </a:r>
          </a:p>
          <a:p xmlns:a="http://schemas.openxmlformats.org/drawingml/2006/main">
            <a:r>
              <a:t>Step 4: tail에서 head로 UB를 보정해 뒤 suffix의 위험이 full-sequence bound에 가려지지 않게 한 뒤 live budget과 비교합니다.</a:t>
            </a:r>
          </a:p>
          <a:p xmlns:a="http://schemas.openxmlformats.org/drawingml/2006/main">
            <a:r>
              <a:t>Example: capture 3 종료 후 floored suffix actual 520.5 / decision-time point 447.916667로 residual 0.150182685가 만들어지고 capture 4부터 적용됩니다.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C:\Users\sal_eunki\Desktop\ML\DraftSequenceExecutionPredictor.kt:32-35,67-96,137-145,218-287,295-347,368-374</a:t>
            </a:r>
          </a:p>
          <a:p xmlns:a="http://schemas.openxmlformats.org/drawingml/2006/main">
            <a:r>
              <a:t>- C:\Users\sal_eunki\Desktop\ML\RecencyWeightedDistribution.kt:28-39,55-90,98-106</a:t>
            </a:r>
          </a:p>
          <a:p xmlns:a="http://schemas.openxmlformats.org/drawingml/2006/main">
            <a:r>
              <a:t>- C:\Users\sal_eunki\Desktop\ML\data\0803_FULL\SM-S948U_metrics_12MP_normal_0803.xlsx, SecDualBokehNode rows 3-5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c4b92af7f14d2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305d6eb7d54634" /><Relationship Type="http://schemas.openxmlformats.org/officeDocument/2006/relationships/slideLayout" Target="/ppt/slideLayouts/slideLayout1.xml" Id="Rb3f95b23bf9f46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f95b23bf9f46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3a632c940e4df8" /><Relationship Type="http://schemas.openxmlformats.org/officeDocument/2006/relationships/image" Target="/ppt/media/image.png" Id="R9a70c291e7cb452f" /><Relationship Type="http://schemas.openxmlformats.org/officeDocument/2006/relationships/notesSlide" Target="/ppt/notesSlides/notesSlide1.xml" Id="R05379423b9434b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cdb4411da64cd6" /><Relationship Type="http://schemas.openxmlformats.org/officeDocument/2006/relationships/chart" Target="/ppt/slides/charts/chart1.xml" Id="Rad7a71fb05cc44f3" /><Relationship Type="http://schemas.openxmlformats.org/officeDocument/2006/relationships/chart" Target="/ppt/slides/charts/chart2.xml" Id="R25d860f5dadc4610" /><Relationship Type="http://schemas.openxmlformats.org/officeDocument/2006/relationships/chart" Target="/ppt/slides/charts/chart3.xml" Id="Rcc588d6e18b34035" /><Relationship Type="http://schemas.openxmlformats.org/officeDocument/2006/relationships/notesSlide" Target="/ppt/notesSlides/notesSlide2.xml" Id="R0943eb7c49ab4b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ab33eebb544943" /><Relationship Type="http://schemas.openxmlformats.org/officeDocument/2006/relationships/notesSlide" Target="/ppt/notesSlides/notesSlide3.xml" Id="R59d3aa6963334ef4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Actual Bokeh</c:v>
          </c:tx>
          <c:spPr>
            <a:ln xmlns:a="http://schemas.openxmlformats.org/drawingml/2006/main" w="38100">
              <a:solidFill>
                <a:srgbClr val="3D8DFF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3D8DFF"/>
              </a:solidFill>
            </c:spPr>
          </c:marker>
          <c:cat>
            <c:numLit>
              <c:formatCode>General</c:formatCode>
              <c:ptCount val="1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</c:numLit>
          </c:cat>
          <c:val>
            <c:numLit>
              <c:formatCode>0</c:formatCode>
              <c:ptCount val="10"/>
              <c:pt idx="0">
                <c:v>343</c:v>
              </c:pt>
              <c:pt idx="1">
                <c:v>194</c:v>
              </c:pt>
              <c:pt idx="2">
                <c:v>195</c:v>
              </c:pt>
              <c:pt idx="3">
                <c:v>206</c:v>
              </c:pt>
              <c:pt idx="4">
                <c:v>206</c:v>
              </c:pt>
              <c:pt idx="5">
                <c:v>185</c:v>
              </c:pt>
              <c:pt idx="6">
                <c:v>181</c:v>
              </c:pt>
              <c:pt idx="7">
                <c:v>200</c:v>
              </c:pt>
              <c:pt idx="8">
                <c:v>207</c:v>
              </c:pt>
              <c:pt idx="9">
                <c:v>207</c:v>
              </c:pt>
            </c:numLit>
          </c:val>
        </c:ser>
        <c:ser>
          <c:idx val="1"/>
          <c:order val="1"/>
          <c:tx>
            <c:v>Bokeh point</c:v>
          </c:tx>
          <c:spPr>
            <a:ln xmlns:a="http://schemas.openxmlformats.org/drawingml/2006/main" w="28575">
              <a:solidFill>
                <a:srgbClr val="172033"/>
              </a:solidFill>
              <a:prstDash val="solid"/>
            </a:ln>
          </c:spPr>
          <c:marker>
            <c:symbol val="diamond"/>
            <c:size val="7"/>
            <c:spPr>
              <a:solidFill xmlns:a="http://schemas.openxmlformats.org/drawingml/2006/main">
                <a:srgbClr val="172033"/>
              </a:solidFill>
            </c:spPr>
          </c:marker>
          <c:cat>
            <c:numLit>
              <c:formatCode>General</c:formatCode>
              <c:ptCount val="1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</c:numLit>
          </c:cat>
          <c:val>
            <c:numLit>
              <c:formatCode>0.0</c:formatCode>
              <c:ptCount val="10"/>
              <c:pt idx="0">
                <c:v>0</c:v>
              </c:pt>
              <c:pt idx="1">
                <c:v>343</c:v>
              </c:pt>
              <c:pt idx="2">
                <c:v>223.75</c:v>
              </c:pt>
              <c:pt idx="3">
                <c:v>214.166667</c:v>
              </c:pt>
              <c:pt idx="4">
                <c:v>237.080882</c:v>
              </c:pt>
              <c:pt idx="5">
                <c:v>212.899451</c:v>
              </c:pt>
              <c:pt idx="6">
                <c:v>208.249543</c:v>
              </c:pt>
              <c:pt idx="7">
                <c:v>211.595073</c:v>
              </c:pt>
              <c:pt idx="8">
                <c:v>210.145688</c:v>
              </c:pt>
              <c:pt idx="9">
                <c:v>209.796168</c:v>
              </c:pt>
            </c:numLit>
          </c:val>
        </c:ser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9CED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B0F17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AF0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96273"/>
                </a:solidFill>
              </a:defRPr>
            </a:pPr>
          </a:p>
        </c:txPr>
        <c:crossAx val="48650112"/>
        <c:crossBetween val="between"/>
        <c:majorUnit val="1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tr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0B0F17"/>
              </a:solidFill>
            </a:defRPr>
          </a:pPr>
        </a:p>
      </c:txPr>
    </c:legend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Actual suffix</c:v>
          </c:tx>
          <c:spPr>
            <a:ln xmlns:a="http://schemas.openxmlformats.org/drawingml/2006/main" w="19050">
              <a:solidFill>
                <a:srgbClr val="69C7F0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69C7F0"/>
              </a:solidFill>
            </c:spPr>
          </c:marker>
          <c:cat>
            <c:numLit>
              <c:formatCode>General</c:formatCode>
              <c:ptCount val="1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</c:numLit>
          </c:cat>
          <c:val>
            <c:numLit>
              <c:formatCode>0</c:formatCode>
              <c:ptCount val="10"/>
              <c:pt idx="0">
                <c:v>624</c:v>
              </c:pt>
              <c:pt idx="1">
                <c:v>449</c:v>
              </c:pt>
              <c:pt idx="2">
                <c:v>488</c:v>
              </c:pt>
              <c:pt idx="3">
                <c:v>477</c:v>
              </c:pt>
              <c:pt idx="4">
                <c:v>451</c:v>
              </c:pt>
              <c:pt idx="5">
                <c:v>462</c:v>
              </c:pt>
              <c:pt idx="6">
                <c:v>459</c:v>
              </c:pt>
              <c:pt idx="7">
                <c:v>486</c:v>
              </c:pt>
              <c:pt idx="8">
                <c:v>491</c:v>
              </c:pt>
              <c:pt idx="9">
                <c:v>498</c:v>
              </c:pt>
            </c:numLit>
          </c:val>
        </c:ser>
        <c:ser>
          <c:idx val="1"/>
          <c:order val="1"/>
          <c:tx>
            <c:v>Sequence point</c:v>
          </c:tx>
          <c:spPr>
            <a:ln xmlns:a="http://schemas.openxmlformats.org/drawingml/2006/main" w="28575">
              <a:solidFill>
                <a:srgbClr val="198F86"/>
              </a:solidFill>
              <a:prstDash val="solid"/>
            </a:ln>
          </c:spPr>
          <c:marker>
            <c:symbol val="diamond"/>
            <c:size val="7"/>
            <c:spPr>
              <a:solidFill xmlns:a="http://schemas.openxmlformats.org/drawingml/2006/main">
                <a:srgbClr val="198F86"/>
              </a:solidFill>
            </c:spPr>
          </c:marker>
          <c:cat>
            <c:numLit>
              <c:formatCode>General</c:formatCode>
              <c:ptCount val="1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</c:numLit>
          </c:cat>
          <c:val>
            <c:numLit>
              <c:formatCode>0.0</c:formatCode>
              <c:ptCount val="10"/>
              <c:pt idx="0">
                <c:v>0</c:v>
              </c:pt>
              <c:pt idx="1">
                <c:v>625</c:v>
              </c:pt>
              <c:pt idx="2">
                <c:v>447.916667</c:v>
              </c:pt>
              <c:pt idx="3">
                <c:v>461.277778</c:v>
              </c:pt>
              <c:pt idx="4">
                <c:v>520.218137</c:v>
              </c:pt>
              <c:pt idx="5">
                <c:v>467.154278</c:v>
              </c:pt>
              <c:pt idx="6">
                <c:v>466.295232</c:v>
              </c:pt>
              <c:pt idx="7">
                <c:v>481.584415</c:v>
              </c:pt>
              <c:pt idx="8">
                <c:v>482.011363</c:v>
              </c:pt>
              <c:pt idx="9">
                <c:v>483.121212</c:v>
              </c:pt>
            </c:numLit>
          </c:val>
        </c:ser>
        <c:ser>
          <c:idx val="2"/>
          <c:order val="2"/>
          <c:tx>
            <c:v>Corrected UB</c:v>
          </c:tx>
          <c:spPr>
            <a:ln xmlns:a="http://schemas.openxmlformats.org/drawingml/2006/main" w="38100">
              <a:solidFill>
                <a:srgbClr val="DA3B3B"/>
              </a:solidFill>
              <a:prstDash val="solid"/>
            </a:ln>
          </c:spPr>
          <c:marker>
            <c:symbol val="triangle"/>
            <c:size val="8"/>
            <c:spPr>
              <a:solidFill xmlns:a="http://schemas.openxmlformats.org/drawingml/2006/main">
                <a:srgbClr val="DA3B3B"/>
              </a:solidFill>
            </c:spPr>
          </c:marker>
          <c:cat>
            <c:numLit>
              <c:formatCode>General</c:formatCode>
              <c:ptCount val="1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</c:numLit>
          </c:cat>
          <c:val>
            <c:numLit>
              <c:formatCode>0.0</c:formatCode>
              <c:ptCount val="10"/>
              <c:pt idx="0">
                <c:v>0</c:v>
              </c:pt>
              <c:pt idx="1">
                <c:v>625</c:v>
              </c:pt>
              <c:pt idx="2">
                <c:v>454.281401</c:v>
              </c:pt>
              <c:pt idx="3">
                <c:v>541.290335</c:v>
              </c:pt>
              <c:pt idx="4">
                <c:v>611.895665</c:v>
              </c:pt>
              <c:pt idx="5">
                <c:v>549.479912</c:v>
              </c:pt>
              <c:pt idx="6">
                <c:v>549.848316</c:v>
              </c:pt>
              <c:pt idx="7">
                <c:v>510.477159</c:v>
              </c:pt>
              <c:pt idx="8">
                <c:v>511.104902</c:v>
              </c:pt>
              <c:pt idx="9">
                <c:v>512.370924</c:v>
              </c:pt>
            </c:numLit>
          </c:val>
        </c:ser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9CED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B0F17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7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AF0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96273"/>
                </a:solidFill>
              </a:defRPr>
            </a:pPr>
          </a:p>
        </c:txPr>
        <c:crossAx val="48650112"/>
        <c:crossBetween val="between"/>
        <c:majorUnit val="1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tr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0B0F17"/>
              </a:solidFill>
            </a:defRPr>
          </a:pPr>
        </a:p>
      </c:txPr>
    </c:legend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Condition f</c:v>
          </c:tx>
          <c:spPr>
            <a:ln xmlns:a="http://schemas.openxmlformats.org/drawingml/2006/main" w="28575">
              <a:solidFill>
                <a:srgbClr val="7A62D3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7A62D3"/>
              </a:solidFill>
            </c:spPr>
          </c:marker>
          <c:cat>
            <c:numLit>
              <c:formatCode>General</c:formatCode>
              <c:ptCount val="1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</c:numLit>
          </c:cat>
          <c:val>
            <c:numLit>
              <c:formatCode>0.000</c:formatCode>
              <c:ptCount val="10"/>
              <c:pt idx="0">
                <c:v>1</c:v>
              </c:pt>
              <c:pt idx="1">
                <c:v>1</c:v>
              </c:pt>
              <c:pt idx="2">
                <c:v>0.833333</c:v>
              </c:pt>
              <c:pt idx="3">
                <c:v>0.833333</c:v>
              </c:pt>
              <c:pt idx="4">
                <c:v>0.931373</c:v>
              </c:pt>
              <c:pt idx="5">
                <c:v>0.858896</c:v>
              </c:pt>
              <c:pt idx="6">
                <c:v>0.858896</c:v>
              </c:pt>
              <c:pt idx="7">
                <c:v>0.889318</c:v>
              </c:pt>
              <c:pt idx="8">
                <c:v>0.889318</c:v>
              </c:pt>
              <c:pt idx="9">
                <c:v>0.889318</c:v>
              </c:pt>
            </c:numLit>
          </c:val>
        </c:ser>
        <c:ser>
          <c:idx val="1"/>
          <c:order val="1"/>
          <c:tx>
            <c:v>Residual exp(R)</c:v>
          </c:tx>
          <c:spPr>
            <a:ln xmlns:a="http://schemas.openxmlformats.org/drawingml/2006/main" w="28575">
              <a:solidFill>
                <a:srgbClr val="EF8C35"/>
              </a:solidFill>
              <a:prstDash val="solid"/>
            </a:ln>
          </c:spPr>
          <c:marker>
            <c:symbol val="diamond"/>
            <c:size val="6"/>
            <c:spPr>
              <a:solidFill xmlns:a="http://schemas.openxmlformats.org/drawingml/2006/main">
                <a:srgbClr val="EF8C35"/>
              </a:solidFill>
            </c:spPr>
          </c:marker>
          <c:cat>
            <c:numLit>
              <c:formatCode>General</c:formatCode>
              <c:ptCount val="1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</c:numLit>
          </c:cat>
          <c:val>
            <c:numLit>
              <c:formatCode>0.000</c:formatCode>
              <c:ptCount val="10"/>
              <c:pt idx="0">
                <c:v>1</c:v>
              </c:pt>
              <c:pt idx="1">
                <c:v>1</c:v>
              </c:pt>
              <c:pt idx="2">
                <c:v>1.0128</c:v>
              </c:pt>
              <c:pt idx="3">
                <c:v>1.162047</c:v>
              </c:pt>
              <c:pt idx="4">
                <c:v>1.162047</c:v>
              </c:pt>
              <c:pt idx="5">
                <c:v>1.162047</c:v>
              </c:pt>
              <c:pt idx="6">
                <c:v>1.162047</c:v>
              </c:pt>
              <c:pt idx="7">
                <c:v>1.057329</c:v>
              </c:pt>
              <c:pt idx="8">
                <c:v>1.057329</c:v>
              </c:pt>
              <c:pt idx="9">
                <c:v>1.057329</c:v>
              </c:pt>
            </c:numLit>
          </c:val>
        </c:ser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596273"/>
                    </a:solidFill>
                  </a:rPr>
                  <a:t>session shot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596273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9CED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B0F17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.2"/>
          <c:min val="0.8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AF0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96273"/>
                </a:solidFill>
              </a:defRPr>
            </a:pPr>
          </a:p>
        </c:txPr>
        <c:crossAx val="48650112"/>
        <c:crossBetween val="between"/>
        <c:majorUnit val="0.1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tr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0B0F17"/>
              </a:solidFill>
            </a:defRPr>
          </a:pPr>
        </a:p>
      </c:txPr>
    </c:legend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1-title">
            <a:extLst xmlns:a="http://schemas.openxmlformats.org/drawingml/2006/main">
              <a:ext uri="{FF2B5EF4-FFF2-40B4-BE49-F238E27FC236}">
                <a16:creationId xmlns:a16="http://schemas.microsoft.com/office/drawing/2014/main" id="{2D1146D8-880B-4133-85BB-CFEBF5DC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0B0F17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0B0F17"/>
                </a:solidFill>
                <a:latin typeface="Malgun Gothic"/>
                <a:ea typeface="Malgun Gothic"/>
                <a:cs typeface="Malgun Gothic"/>
              </a:rPr>
              <a:t>예측 단위는 Bokeh가 아니라 남은 ordered suffix다</a:t>
            </a:r>
          </a:p>
        </p:txBody>
      </p:sp>
      <p:sp>
        <p:nvSpPr>
          <p:cNvPr id="2" name="workload-key-label">
            <a:extLst xmlns:a="http://schemas.openxmlformats.org/drawingml/2006/main">
              <a:ext uri="{FF2B5EF4-FFF2-40B4-BE49-F238E27FC236}">
                <a16:creationId xmlns:a16="http://schemas.microsoft.com/office/drawing/2014/main" id="{AF076587-970A-4C10-BEFE-B7D72727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WorkloadKey</a:t>
            </a:r>
          </a:p>
        </p:txBody>
      </p:sp>
      <p:sp>
        <p:nvSpPr>
          <p:cNvPr id="3" name="workload-key-desc">
            <a:extLst xmlns:a="http://schemas.openxmlformats.org/drawingml/2006/main">
              <a:ext uri="{FF2B5EF4-FFF2-40B4-BE49-F238E27FC236}">
                <a16:creationId xmlns:a16="http://schemas.microsoft.com/office/drawing/2014/main" id="{EB050389-9AE4-4700-8E93-616CDC1B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5314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>
                <a:solidFill>
                  <a:srgbClr val="0B0F1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>
                <a:solidFill>
                  <a:srgbClr val="0B0F17"/>
                </a:solidFill>
                <a:latin typeface="Malgun Gothic"/>
                <a:ea typeface="Malgun Gothic"/>
                <a:cs typeface="Malgun Gothic"/>
              </a:rPr>
              <a:t>한 node 실행을 반복 가능한 bucket으로 표현합니다. exact key마다 장기 baseline bₖ를 따로 학습합니다.</a:t>
            </a:r>
          </a:p>
        </p:txBody>
      </p:sp>
      <p:sp>
        <p:nvSpPr>
          <p:cNvPr id="4" name="workload-key-example-panel">
            <a:extLst xmlns:a="http://schemas.openxmlformats.org/drawingml/2006/main">
              <a:ext uri="{FF2B5EF4-FFF2-40B4-BE49-F238E27FC236}">
                <a16:creationId xmlns:a16="http://schemas.microsoft.com/office/drawing/2014/main" id="{1A1FDECA-ACB5-4204-B01E-0D859320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53149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workload-key-example">
            <a:extLst xmlns:a="http://schemas.openxmlformats.org/drawingml/2006/main">
              <a:ext uri="{FF2B5EF4-FFF2-40B4-BE49-F238E27FC236}">
                <a16:creationId xmlns:a16="http://schemas.microsoft.com/office/drawing/2014/main" id="{FB616A3E-202A-4F65-A6E2-DCB38BA4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28900"/>
            <a:ext cx="493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F1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B0F17"/>
                </a:solidFill>
                <a:latin typeface="Malgun Gothic"/>
                <a:ea typeface="Malgun Gothic"/>
                <a:cs typeface="Malgun Gothic"/>
              </a:rPr>
              <a:t>예  BOKEH(sizeBucket=MP12)</a:t>
            </a:r>
          </a:p>
        </p:txBody>
      </p:sp>
      <p:sp>
        <p:nvSpPr>
          <p:cNvPr id="6" name="sequence-key-label">
            <a:extLst xmlns:a="http://schemas.openxmlformats.org/drawingml/2006/main">
              <a:ext uri="{FF2B5EF4-FFF2-40B4-BE49-F238E27FC236}">
                <a16:creationId xmlns:a16="http://schemas.microsoft.com/office/drawing/2014/main" id="{4823A72E-0CD0-40C4-983F-2672F99F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528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WorkloadSequenceKey</a:t>
            </a:r>
          </a:p>
        </p:txBody>
      </p:sp>
      <p:sp>
        <p:nvSpPr>
          <p:cNvPr id="7" name="sequence-key-desc">
            <a:extLst xmlns:a="http://schemas.openxmlformats.org/drawingml/2006/main">
              <a:ext uri="{FF2B5EF4-FFF2-40B4-BE49-F238E27FC236}">
                <a16:creationId xmlns:a16="http://schemas.microsoft.com/office/drawing/2014/main" id="{B61F990D-6D8C-434D-A534-C2C59ABF1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90950"/>
            <a:ext cx="5314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2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>
                <a:solidFill>
                  <a:srgbClr val="0B0F1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>
                <a:solidFill>
                  <a:srgbClr val="0B0F17"/>
                </a:solidFill>
                <a:latin typeface="Malgun Gothic"/>
                <a:ea typeface="Malgun Gothic"/>
                <a:cs typeface="Malgun Gothic"/>
              </a:rPr>
              <a:t>현재 판단 node부터 끝까지 남은 ordered suffix Sᵢ입니다. suffix별 residual을 학습하고 tail까지 안전한 UB를 계산합니다.</a:t>
            </a:r>
          </a:p>
        </p:txBody>
      </p:sp>
      <p:sp>
        <p:nvSpPr>
          <p:cNvPr id="8" name="sequence-key-example-panel">
            <a:extLst xmlns:a="http://schemas.openxmlformats.org/drawingml/2006/main">
              <a:ext uri="{FF2B5EF4-FFF2-40B4-BE49-F238E27FC236}">
                <a16:creationId xmlns:a16="http://schemas.microsoft.com/office/drawing/2014/main" id="{125F82DE-9338-466C-9894-CAE82148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91050"/>
            <a:ext cx="53149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0E8F7"/>
            </a:solidFill>
            <a:prstDash val="solid"/>
          </a:ln>
        </p:spPr>
      </p:sp>
      <p:sp>
        <p:nvSpPr>
          <p:cNvPr id="9" name="sequence-key-example">
            <a:extLst xmlns:a="http://schemas.openxmlformats.org/drawingml/2006/main">
              <a:ext uri="{FF2B5EF4-FFF2-40B4-BE49-F238E27FC236}">
                <a16:creationId xmlns:a16="http://schemas.microsoft.com/office/drawing/2014/main" id="{C63F3685-B1D1-46E1-8DA8-6A986B30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43450"/>
            <a:ext cx="501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52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7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BOKEH(MP12)  →  DYNAMIC_FUNCTION  →  DECODING  →  FILTER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7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→  DECODING  →  WATERMARK(OVERLAY)  →  ENCODING</a:t>
            </a:r>
          </a:p>
        </p:txBody>
      </p:sp>
      <p:sp>
        <p:nvSpPr>
          <p:cNvPr id="10" name="decision-unit-callout">
            <a:extLst xmlns:a="http://schemas.openxmlformats.org/drawingml/2006/main">
              <a:ext uri="{FF2B5EF4-FFF2-40B4-BE49-F238E27FC236}">
                <a16:creationId xmlns:a16="http://schemas.microsoft.com/office/drawing/2014/main" id="{4ACF3838-712F-46F6-BBDF-901A3CB9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53149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cision-unit-callout-text">
            <a:extLst xmlns:a="http://schemas.openxmlformats.org/drawingml/2006/main">
              <a:ext uri="{FF2B5EF4-FFF2-40B4-BE49-F238E27FC236}">
                <a16:creationId xmlns:a16="http://schemas.microsoft.com/office/drawing/2014/main" id="{848B9A03-7000-4013-B4EF-4DF6DC25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29300"/>
            <a:ext cx="497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Bokeh 시점의 Point / UB = 현재 Bokeh + 이후 workload 전체</a:t>
            </a:r>
          </a:p>
        </p:txBody>
      </p:sp>
      <p:sp>
        <p:nvSpPr>
          <p:cNvPr id="12" name="hero-backing">
            <a:extLst xmlns:a="http://schemas.openxmlformats.org/drawingml/2006/main">
              <a:ext uri="{FF2B5EF4-FFF2-40B4-BE49-F238E27FC236}">
                <a16:creationId xmlns:a16="http://schemas.microsoft.com/office/drawing/2014/main" id="{1F5FB1AF-0BD6-4748-BFDA-AB8D1669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200150"/>
            <a:ext cx="5543550" cy="50292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D0E8F7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70c291e7cb452f"/>
          <a:stretch xmlns:a="http://schemas.openxmlformats.org/drawingml/2006/main"/>
        </p:blipFill>
        <p:spPr>
          <a:xfrm xmlns:a="http://schemas.openxmlformats.org/drawingml/2006/main">
            <a:off x="6619875" y="1295400"/>
            <a:ext cx="4838700" cy="4838700"/>
          </a:xfrm>
          <a:prstGeom xmlns:a="http://schemas.openxmlformats.org/drawingml/2006/main" prst="roundRect">
            <a:avLst>
              <a:gd name="adj" fmla="val 3150"/>
            </a:avLst>
          </a:prstGeom>
        </p:spPr>
      </p:pic>
      <p:sp>
        <p:nvSpPr>
          <p:cNvPr id="14" name="slide-1-number">
            <a:extLst xmlns:a="http://schemas.openxmlformats.org/drawingml/2006/main">
              <a:ext uri="{FF2B5EF4-FFF2-40B4-BE49-F238E27FC236}">
                <a16:creationId xmlns:a16="http://schemas.microsoft.com/office/drawing/2014/main" id="{6D990681-4D86-416E-B77C-DEADEDE2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0B0F1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>
                <a:solidFill>
                  <a:srgbClr val="0B0F17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649592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CA83979D-C39A-49A1-9FAD-D60BD3C7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40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0B0F17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0B0F17"/>
                </a:solidFill>
                <a:latin typeface="Malgun Gothic"/>
                <a:ea typeface="Malgun Gothic"/>
                <a:cs typeface="Malgun Gothic"/>
              </a:rPr>
              <a:t>Run 1 시작 10 shots: cold start에서 bound가 형성되는 과정</a:t>
            </a:r>
          </a:p>
        </p:txBody>
      </p:sp>
      <p:sp>
        <p:nvSpPr>
          <p:cNvPr id="2" name="graph-subtitle">
            <a:extLst xmlns:a="http://schemas.openxmlformats.org/drawingml/2006/main">
              <a:ext uri="{FF2B5EF4-FFF2-40B4-BE49-F238E27FC236}">
                <a16:creationId xmlns:a16="http://schemas.microsoft.com/office/drawing/2014/main" id="{B817EB78-6D4D-407E-9A69-800D662E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71550"/>
            <a:ext cx="11391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596273"/>
                </a:solidFill>
                <a:latin typeface="Malgun Gothic"/>
                <a:ea typeface="Malgun Gothic"/>
                <a:cs typeface="Malgun Gothic"/>
              </a:rPr>
              <a:t>각 shot의 actual은 종료 후 학습되어 다음 shot의 condition · point · residual · UB에 반영</a:t>
            </a:r>
          </a:p>
        </p:txBody>
      </p:sp>
      <p:sp>
        <p:nvSpPr>
          <p:cNvPr id="3" name="actual-values">
            <a:extLst xmlns:a="http://schemas.openxmlformats.org/drawingml/2006/main">
              <a:ext uri="{FF2B5EF4-FFF2-40B4-BE49-F238E27FC236}">
                <a16:creationId xmlns:a16="http://schemas.microsoft.com/office/drawing/2014/main" id="{966AF7BC-4BD0-4108-865C-D20B680E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Bokeh actual (ms)   343 · 194 · 195 · 206 · 206 · 185 · 181 · 200 · 207 · 207</a:t>
            </a:r>
          </a:p>
        </p:txBody>
      </p:sp>
      <p:sp>
        <p:nvSpPr>
          <p:cNvPr id="4" name="band-a-label">
            <a:extLst xmlns:a="http://schemas.openxmlformats.org/drawingml/2006/main">
              <a:ext uri="{FF2B5EF4-FFF2-40B4-BE49-F238E27FC236}">
                <a16:creationId xmlns:a16="http://schemas.microsoft.com/office/drawing/2014/main" id="{899B2535-71EB-49A5-9377-F253A7B7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895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7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A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Bokeh node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(ms)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1257300" y="1504950"/>
          <a:ext xmlns:a="http://schemas.openxmlformats.org/drawingml/2006/main" cx="10534650" cy="15621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d7a71fb05cc44f3"/>
          </a:graphicData>
        </a:graphic>
      </p:graphicFrame>
      <p:sp>
        <p:nvSpPr>
          <p:cNvPr id="6" name="band-b-label">
            <a:extLst xmlns:a="http://schemas.openxmlformats.org/drawingml/2006/main">
              <a:ext uri="{FF2B5EF4-FFF2-40B4-BE49-F238E27FC236}">
                <a16:creationId xmlns:a16="http://schemas.microsoft.com/office/drawing/2014/main" id="{823D2306-A041-4F8D-B509-A5671566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895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5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B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Remaining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sequence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(ms)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1257300" y="3009900"/>
          <a:ext xmlns:a="http://schemas.openxmlformats.org/drawingml/2006/main" cx="10534650" cy="2000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5d860f5dadc4610"/>
          </a:graphicData>
        </a:graphic>
      </p:graphicFrame>
      <p:sp>
        <p:nvSpPr>
          <p:cNvPr id="8" name="band-c-label">
            <a:extLst xmlns:a="http://schemas.openxmlformats.org/drawingml/2006/main">
              <a:ext uri="{FF2B5EF4-FFF2-40B4-BE49-F238E27FC236}">
                <a16:creationId xmlns:a16="http://schemas.microsoft.com/office/drawing/2014/main" id="{16BC9AB9-AD99-487A-85D8-A2711E82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57800"/>
            <a:ext cx="895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C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State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factor (×)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1257300" y="4953000"/>
          <a:ext xmlns:a="http://schemas.openxmlformats.org/drawingml/2006/main" cx="10534650" cy="1257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c588d6e18b34035"/>
          </a:graphicData>
        </a:graphic>
      </p:graphicFrame>
      <p:sp>
        <p:nvSpPr>
          <p:cNvPr id="10" name="graph-footnote">
            <a:extLst xmlns:a="http://schemas.openxmlformats.org/drawingml/2006/main">
              <a:ext uri="{FF2B5EF4-FFF2-40B4-BE49-F238E27FC236}">
                <a16:creationId xmlns:a16="http://schemas.microsoft.com/office/drawing/2014/main" id="{2DBE2BA3-4C7C-4F2F-82D4-CA321ABE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238875"/>
            <a:ext cx="10534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596273"/>
                </a:solidFill>
                <a:latin typeface="Malgun Gothic"/>
                <a:ea typeface="Malgun Gothic"/>
                <a:cs typeface="Malgun Gothic"/>
              </a:rPr>
              <a:t>단위가 다른 Bokeh node와 remaining sequence를 분리해 같은 capture 축에 정렬했습니다. Budget(6.1–6.5 s)은 scale이 달라 gate에서 별도 비교합니다.</a:t>
            </a:r>
          </a:p>
        </p:txBody>
      </p:sp>
      <p:sp>
        <p:nvSpPr>
          <p:cNvPr id="11" name="slide-2-source">
            <a:extLst xmlns:a="http://schemas.openxmlformats.org/drawingml/2006/main">
              <a:ext uri="{FF2B5EF4-FFF2-40B4-BE49-F238E27FC236}">
                <a16:creationId xmlns:a16="http://schemas.microsoft.com/office/drawing/2014/main" id="{B405F786-8460-4BBE-A842-BFFA18DA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962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596273"/>
                </a:solidFill>
                <a:latin typeface="Malgun Gothic"/>
                <a:ea typeface="Malgun Gothic"/>
                <a:cs typeface="Malgun Gothic"/>
              </a:rPr>
              <a:t>Source · SecDualBokehNode rows 2–11 · Run 1 / shots 1–10 · predictor replay matches export</a:t>
            </a:r>
          </a:p>
        </p:txBody>
      </p:sp>
      <p:sp>
        <p:nvSpPr>
          <p:cNvPr id="12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46F4BD12-0224-4111-AAA2-4B01DD3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0B0F1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>
                <a:solidFill>
                  <a:srgbClr val="0B0F17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958567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4083AD0F-492B-40C8-B2DF-84A4A888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0B0F17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0B0F17"/>
                </a:solidFill>
                <a:latin typeface="Malgun Gothic"/>
                <a:ea typeface="Malgun Gothic"/>
                <a:cs typeface="Malgun Gothic"/>
              </a:rPr>
              <a:t>한 번의 판단은 4단계로 계산된다</a:t>
            </a:r>
          </a:p>
        </p:txBody>
      </p:sp>
      <p:sp>
        <p:nvSpPr>
          <p:cNvPr id="2" name="method-subtitle">
            <a:extLst xmlns:a="http://schemas.openxmlformats.org/drawingml/2006/main">
              <a:ext uri="{FF2B5EF4-FFF2-40B4-BE49-F238E27FC236}">
                <a16:creationId xmlns:a16="http://schemas.microsoft.com/office/drawing/2014/main" id="{ECA442C7-5564-46BE-AC76-F40A38E5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71550"/>
            <a:ext cx="11391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596273"/>
                </a:solidFill>
                <a:latin typeface="Malgun Gothic"/>
                <a:ea typeface="Malgun Gothic"/>
                <a:cs typeface="Malgun Gothic"/>
              </a:rPr>
              <a:t>판단에는 이전 history만 사용하고, 현재 실측은 종료 후 다음 shot의 state를 갱신합니다.</a:t>
            </a:r>
          </a:p>
        </p:txBody>
      </p:sp>
      <p:cxnSp>
        <p:nvCxnSpPr>
          <p:cNvPr id="48" name="process-connector-1"/>
          <p:cNvCxnSpPr/>
          <p:nvPr/>
        </p:nvCxnSpPr>
        <p:spPr>
          <a:xfrm xmlns:a="http://schemas.openxmlformats.org/drawingml/2006/main">
            <a:off x="1162050" y="1619250"/>
            <a:ext cx="2400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CED7"/>
            </a:solidFill>
            <a:prstDash val="solid"/>
          </a:ln>
        </p:spPr>
      </p:cxnSp>
      <p:cxnSp>
        <p:nvCxnSpPr>
          <p:cNvPr id="49" name="process-connector-2"/>
          <p:cNvCxnSpPr/>
          <p:nvPr/>
        </p:nvCxnSpPr>
        <p:spPr>
          <a:xfrm xmlns:a="http://schemas.openxmlformats.org/drawingml/2006/main">
            <a:off x="4038600" y="1619250"/>
            <a:ext cx="2400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CED7"/>
            </a:solidFill>
            <a:prstDash val="solid"/>
          </a:ln>
        </p:spPr>
      </p:cxnSp>
      <p:cxnSp>
        <p:nvCxnSpPr>
          <p:cNvPr id="50" name="process-connector-3"/>
          <p:cNvCxnSpPr/>
          <p:nvPr/>
        </p:nvCxnSpPr>
        <p:spPr>
          <a:xfrm xmlns:a="http://schemas.openxmlformats.org/drawingml/2006/main">
            <a:off x="6915150" y="1619250"/>
            <a:ext cx="2400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CED7"/>
            </a:solidFill>
            <a:prstDash val="solid"/>
          </a:ln>
        </p:spPr>
      </p:cxnSp>
      <p:sp>
        <p:nvSpPr>
          <p:cNvPr id="6" name="process-number-1">
            <a:extLst xmlns:a="http://schemas.openxmlformats.org/drawingml/2006/main">
              <a:ext uri="{FF2B5EF4-FFF2-40B4-BE49-F238E27FC236}">
                <a16:creationId xmlns:a16="http://schemas.microsoft.com/office/drawing/2014/main" id="{9A9B7AE6-0855-4BCD-8022-EDB59CA5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rocess-number-text-1">
            <a:extLst xmlns:a="http://schemas.openxmlformats.org/drawingml/2006/main">
              <a:ext uri="{FF2B5EF4-FFF2-40B4-BE49-F238E27FC236}">
                <a16:creationId xmlns:a16="http://schemas.microsoft.com/office/drawing/2014/main" id="{6A06F9E0-D558-4AF4-9774-618C6670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8" name="process-title-1">
            <a:extLst xmlns:a="http://schemas.openxmlformats.org/drawingml/2006/main">
              <a:ext uri="{FF2B5EF4-FFF2-40B4-BE49-F238E27FC236}">
                <a16:creationId xmlns:a16="http://schemas.microsoft.com/office/drawing/2014/main" id="{B9925980-89AA-4D97-ACD3-105DF123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Trend state</a:t>
            </a:r>
          </a:p>
        </p:txBody>
      </p:sp>
      <p:sp>
        <p:nvSpPr>
          <p:cNvPr id="9" name="process-body-1">
            <a:extLst xmlns:a="http://schemas.openxmlformats.org/drawingml/2006/main">
              <a:ext uri="{FF2B5EF4-FFF2-40B4-BE49-F238E27FC236}">
                <a16:creationId xmlns:a16="http://schemas.microsoft.com/office/drawing/2014/main" id="{DA1A4480-C237-4346-91AB-0C2837A9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57450"/>
            <a:ext cx="25336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>
                <a:solidFill>
                  <a:srgbClr val="59627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596273"/>
                </a:solidFill>
                <a:latin typeface="Malgun Gothic"/>
                <a:ea typeface="Malgun Gothic"/>
                <a:cs typeface="Malgun Gothic"/>
              </a:rPr>
              <a:t>bₖ = mean(actual / f_pre)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>
                <a:solidFill>
                  <a:srgbClr val="59627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596273"/>
                </a:solidFill>
                <a:latin typeface="Malgun Gothic"/>
                <a:ea typeface="Malgun Gothic"/>
                <a:cs typeface="Malgun Gothic"/>
              </a:rPr>
              <a:t>f = weighted median(actual / b_pre)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>
                <a:solidFill>
                  <a:srgbClr val="59627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596273"/>
                </a:solidFill>
                <a:latin typeface="Malgun Gothic"/>
                <a:ea typeface="Malgun Gothic"/>
                <a:cs typeface="Malgun Gothic"/>
              </a:rPr>
              <a:t>all workloads · decay 0.90</a:t>
            </a:r>
          </a:p>
        </p:txBody>
      </p:sp>
      <p:sp>
        <p:nvSpPr>
          <p:cNvPr id="10" name="process-number-2">
            <a:extLst xmlns:a="http://schemas.openxmlformats.org/drawingml/2006/main">
              <a:ext uri="{FF2B5EF4-FFF2-40B4-BE49-F238E27FC236}">
                <a16:creationId xmlns:a16="http://schemas.microsoft.com/office/drawing/2014/main" id="{50FD0BF8-A2B9-4DC4-B1DC-62040B24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3906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ocess-number-text-2">
            <a:extLst xmlns:a="http://schemas.openxmlformats.org/drawingml/2006/main">
              <a:ext uri="{FF2B5EF4-FFF2-40B4-BE49-F238E27FC236}">
                <a16:creationId xmlns:a16="http://schemas.microsoft.com/office/drawing/2014/main" id="{C8C80999-D467-4F67-84EB-E53A24A0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4763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2" name="process-title-2">
            <a:extLst xmlns:a="http://schemas.openxmlformats.org/drawingml/2006/main">
              <a:ext uri="{FF2B5EF4-FFF2-40B4-BE49-F238E27FC236}">
                <a16:creationId xmlns:a16="http://schemas.microsoft.com/office/drawing/2014/main" id="{AA11C6AC-ECE6-46DC-8860-A01C185B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38350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Point estimate</a:t>
            </a:r>
          </a:p>
        </p:txBody>
      </p:sp>
      <p:sp>
        <p:nvSpPr>
          <p:cNvPr id="13" name="process-body-2">
            <a:extLst xmlns:a="http://schemas.openxmlformats.org/drawingml/2006/main">
              <a:ext uri="{FF2B5EF4-FFF2-40B4-BE49-F238E27FC236}">
                <a16:creationId xmlns:a16="http://schemas.microsoft.com/office/drawing/2014/main" id="{CBB0EA88-7649-4D1F-ACE8-34E25B96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57450"/>
            <a:ext cx="25336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>
                <a:solidFill>
                  <a:srgbClr val="59627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596273"/>
                </a:solidFill>
                <a:latin typeface="Malgun Gothic"/>
                <a:ea typeface="Malgun Gothic"/>
                <a:cs typeface="Malgun Gothic"/>
              </a:rPr>
              <a:t>ŷₖ = bₖ × f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>
                <a:solidFill>
                  <a:srgbClr val="59627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596273"/>
                </a:solidFill>
                <a:latin typeface="Malgun Gothic"/>
                <a:ea typeface="Malgun Gothic"/>
                <a:cs typeface="Malgun Gothic"/>
              </a:rPr>
              <a:t>P(Sᵢ) = Σ ŷₖ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>
                <a:solidFill>
                  <a:srgbClr val="59627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596273"/>
                </a:solidFill>
                <a:latin typeface="Malgun Gothic"/>
                <a:ea typeface="Malgun Gothic"/>
                <a:cs typeface="Malgun Gothic"/>
              </a:rPr>
              <a:t>ordered suffix 전체를 합산</a:t>
            </a:r>
          </a:p>
        </p:txBody>
      </p:sp>
      <p:sp>
        <p:nvSpPr>
          <p:cNvPr id="14" name="process-number-3">
            <a:extLst xmlns:a="http://schemas.openxmlformats.org/drawingml/2006/main">
              <a:ext uri="{FF2B5EF4-FFF2-40B4-BE49-F238E27FC236}">
                <a16:creationId xmlns:a16="http://schemas.microsoft.com/office/drawing/2014/main" id="{A56A8C85-AACC-4EBD-ADBF-39F71426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3906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rocess-number-text-3">
            <a:extLst xmlns:a="http://schemas.openxmlformats.org/drawingml/2006/main">
              <a:ext uri="{FF2B5EF4-FFF2-40B4-BE49-F238E27FC236}">
                <a16:creationId xmlns:a16="http://schemas.microsoft.com/office/drawing/2014/main" id="{EB69146C-2250-4AA1-8567-97F345B6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4763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6" name="process-title-3">
            <a:extLst xmlns:a="http://schemas.openxmlformats.org/drawingml/2006/main">
              <a:ext uri="{FF2B5EF4-FFF2-40B4-BE49-F238E27FC236}">
                <a16:creationId xmlns:a16="http://schemas.microsoft.com/office/drawing/2014/main" id="{8656B100-F943-4B82-8D0F-78446196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38350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Residual margin</a:t>
            </a:r>
          </a:p>
        </p:txBody>
      </p:sp>
      <p:sp>
        <p:nvSpPr>
          <p:cNvPr id="17" name="process-body-3">
            <a:extLst xmlns:a="http://schemas.openxmlformats.org/drawingml/2006/main">
              <a:ext uri="{FF2B5EF4-FFF2-40B4-BE49-F238E27FC236}">
                <a16:creationId xmlns:a16="http://schemas.microsoft.com/office/drawing/2014/main" id="{CDAB5357-9A2D-4FDE-A6AD-551E674C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57450"/>
            <a:ext cx="25336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>
                <a:solidFill>
                  <a:srgbClr val="59627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596273"/>
                </a:solidFill>
                <a:latin typeface="Malgun Gothic"/>
                <a:ea typeface="Malgun Gothic"/>
                <a:cs typeface="Malgun Gothic"/>
              </a:rPr>
              <a:t>r = max(0, ln(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>
                <a:solidFill>
                  <a:srgbClr val="59627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596273"/>
                </a:solidFill>
                <a:latin typeface="Malgun Gothic"/>
                <a:ea typeface="Malgun Gothic"/>
                <a:cs typeface="Malgun Gothic"/>
              </a:rPr>
              <a:t>Σ max(actual, ŷ) / P ))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>
                <a:solidFill>
                  <a:srgbClr val="59627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596273"/>
                </a:solidFill>
                <a:latin typeface="Malgun Gothic"/>
                <a:ea typeface="Malgun Gothic"/>
                <a:cs typeface="Malgun Gothic"/>
              </a:rPr>
              <a:t>exact suffix의 expected max</a:t>
            </a:r>
          </a:p>
        </p:txBody>
      </p:sp>
      <p:sp>
        <p:nvSpPr>
          <p:cNvPr id="18" name="process-number-4">
            <a:extLst xmlns:a="http://schemas.openxmlformats.org/drawingml/2006/main">
              <a:ext uri="{FF2B5EF4-FFF2-40B4-BE49-F238E27FC236}">
                <a16:creationId xmlns:a16="http://schemas.microsoft.com/office/drawing/2014/main" id="{92F96584-4BA0-41EB-A77E-8F39F8CD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3906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rocess-number-text-4">
            <a:extLst xmlns:a="http://schemas.openxmlformats.org/drawingml/2006/main">
              <a:ext uri="{FF2B5EF4-FFF2-40B4-BE49-F238E27FC236}">
                <a16:creationId xmlns:a16="http://schemas.microsoft.com/office/drawing/2014/main" id="{FFCF4955-CE73-48C8-AFCF-91EA3519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4763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0" name="process-title-4">
            <a:extLst xmlns:a="http://schemas.openxmlformats.org/drawingml/2006/main">
              <a:ext uri="{FF2B5EF4-FFF2-40B4-BE49-F238E27FC236}">
                <a16:creationId xmlns:a16="http://schemas.microsoft.com/office/drawing/2014/main" id="{AE16BDDB-B72E-4289-A2A5-3379C6D5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038350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UB &amp; gate</a:t>
            </a:r>
          </a:p>
        </p:txBody>
      </p:sp>
      <p:sp>
        <p:nvSpPr>
          <p:cNvPr id="21" name="process-body-4">
            <a:extLst xmlns:a="http://schemas.openxmlformats.org/drawingml/2006/main">
              <a:ext uri="{FF2B5EF4-FFF2-40B4-BE49-F238E27FC236}">
                <a16:creationId xmlns:a16="http://schemas.microsoft.com/office/drawing/2014/main" id="{C7D50DE8-23F5-4D36-B3F4-12391110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57450"/>
            <a:ext cx="25336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>
                <a:solidFill>
                  <a:srgbClr val="59627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596273"/>
                </a:solidFill>
                <a:latin typeface="Malgun Gothic"/>
                <a:ea typeface="Malgun Gothic"/>
                <a:cs typeface="Malgun Gothic"/>
              </a:rPr>
              <a:t>Uᵢ = max(Pᵢ·exp(Rᵢ),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>
                <a:solidFill>
                  <a:srgbClr val="59627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596273"/>
                </a:solidFill>
                <a:latin typeface="Malgun Gothic"/>
                <a:ea typeface="Malgun Gothic"/>
                <a:cs typeface="Malgun Gothic"/>
              </a:rPr>
              <a:t>ŷᵢ + Uᵢ₊₁)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>
                <a:solidFill>
                  <a:srgbClr val="59627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596273"/>
                </a:solidFill>
                <a:latin typeface="Malgun Gothic"/>
                <a:ea typeface="Malgun Gothic"/>
                <a:cs typeface="Malgun Gothic"/>
              </a:rPr>
              <a:t>admit ⇔ P≤0 또는 U₀≤budget</a:t>
            </a:r>
          </a:p>
        </p:txBody>
      </p:sp>
      <p:sp>
        <p:nvSpPr>
          <p:cNvPr id="22" name="example-band">
            <a:extLst xmlns:a="http://schemas.openxmlformats.org/drawingml/2006/main">
              <a:ext uri="{FF2B5EF4-FFF2-40B4-BE49-F238E27FC236}">
                <a16:creationId xmlns:a16="http://schemas.microsoft.com/office/drawing/2014/main" id="{B9477451-9979-4447-9732-489ECD64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11391900" cy="22098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0E8F7"/>
            </a:solidFill>
            <a:prstDash val="solid"/>
          </a:ln>
        </p:spPr>
      </p:sp>
      <p:sp>
        <p:nvSpPr>
          <p:cNvPr id="23" name="example-band-title">
            <a:extLst xmlns:a="http://schemas.openxmlformats.org/drawingml/2006/main">
              <a:ext uri="{FF2B5EF4-FFF2-40B4-BE49-F238E27FC236}">
                <a16:creationId xmlns:a16="http://schemas.microsoft.com/office/drawing/2014/main" id="{D3146439-C80C-49BE-AFA7-871BCE3F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실제 시간축 · Run 1, shot 2 → shot 4</a:t>
            </a:r>
          </a:p>
        </p:txBody>
      </p:sp>
      <p:sp>
        <p:nvSpPr>
          <p:cNvPr id="24" name="example-arrow-1">
            <a:extLst xmlns:a="http://schemas.openxmlformats.org/drawingml/2006/main">
              <a:ext uri="{FF2B5EF4-FFF2-40B4-BE49-F238E27FC236}">
                <a16:creationId xmlns:a16="http://schemas.microsoft.com/office/drawing/2014/main" id="{F60AF8EC-C012-4E6B-BF00-3F7E22A9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953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5" name="example-arrow-2">
            <a:extLst xmlns:a="http://schemas.openxmlformats.org/drawingml/2006/main">
              <a:ext uri="{FF2B5EF4-FFF2-40B4-BE49-F238E27FC236}">
                <a16:creationId xmlns:a16="http://schemas.microsoft.com/office/drawing/2014/main" id="{EF9CA486-38F5-4F89-AC40-303A3297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953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6" name="example-arrow-3">
            <a:extLst xmlns:a="http://schemas.openxmlformats.org/drawingml/2006/main">
              <a:ext uri="{FF2B5EF4-FFF2-40B4-BE49-F238E27FC236}">
                <a16:creationId xmlns:a16="http://schemas.microsoft.com/office/drawing/2014/main" id="{3EEF1B6E-AF81-4F58-AE47-B8C1083B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53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7" name="example-arrow-4">
            <a:extLst xmlns:a="http://schemas.openxmlformats.org/drawingml/2006/main">
              <a:ext uri="{FF2B5EF4-FFF2-40B4-BE49-F238E27FC236}">
                <a16:creationId xmlns:a16="http://schemas.microsoft.com/office/drawing/2014/main" id="{87D92BE0-F727-4437-B553-18231C253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953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8" name="example-label-1">
            <a:extLst xmlns:a="http://schemas.openxmlformats.org/drawingml/2006/main">
              <a:ext uri="{FF2B5EF4-FFF2-40B4-BE49-F238E27FC236}">
                <a16:creationId xmlns:a16="http://schemas.microsoft.com/office/drawing/2014/main" id="{FF4CB38E-5E40-44F0-9287-C3D06082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339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SHOT 2 종료</a:t>
            </a:r>
          </a:p>
        </p:txBody>
      </p:sp>
      <p:sp>
        <p:nvSpPr>
          <p:cNvPr id="29" name="example-value-1">
            <a:extLst xmlns:a="http://schemas.openxmlformats.org/drawingml/2006/main">
              <a:ext uri="{FF2B5EF4-FFF2-40B4-BE49-F238E27FC236}">
                <a16:creationId xmlns:a16="http://schemas.microsoft.com/office/drawing/2014/main" id="{3CE24CFD-8D61-4DC9-8779-9005F64D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198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F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B0F17"/>
                </a:solidFill>
                <a:latin typeface="Malgun Gothic"/>
                <a:ea typeface="Malgun Gothic"/>
                <a:cs typeface="Malgun Gothic"/>
              </a:rPr>
              <a:t>Bokeh actual 194</a:t>
            </a:r>
          </a:p>
        </p:txBody>
      </p:sp>
      <p:sp>
        <p:nvSpPr>
          <p:cNvPr id="30" name="example-detail-1">
            <a:extLst xmlns:a="http://schemas.openxmlformats.org/drawingml/2006/main">
              <a:ext uri="{FF2B5EF4-FFF2-40B4-BE49-F238E27FC236}">
                <a16:creationId xmlns:a16="http://schemas.microsoft.com/office/drawing/2014/main" id="{1514706F-09EF-45FB-AE78-B690688A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911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>
                <a:solidFill>
                  <a:srgbClr val="5962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96273"/>
                </a:solidFill>
                <a:latin typeface="Malgun Gothic"/>
                <a:ea typeface="Malgun Gothic"/>
                <a:cs typeface="Malgun Gothic"/>
              </a:rPr>
              <a:t>이전 관측 343과 함께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>
                <a:solidFill>
                  <a:srgbClr val="5962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96273"/>
                </a:solidFill>
                <a:latin typeface="Malgun Gothic"/>
                <a:ea typeface="Malgun Gothic"/>
                <a:cs typeface="Malgun Gothic"/>
              </a:rPr>
              <a:t>trend update 입력</a:t>
            </a:r>
          </a:p>
        </p:txBody>
      </p:sp>
      <p:sp>
        <p:nvSpPr>
          <p:cNvPr id="31" name="example-label-2">
            <a:extLst xmlns:a="http://schemas.openxmlformats.org/drawingml/2006/main">
              <a:ext uri="{FF2B5EF4-FFF2-40B4-BE49-F238E27FC236}">
                <a16:creationId xmlns:a16="http://schemas.microsoft.com/office/drawing/2014/main" id="{C9226D52-76C6-469B-9BA6-301251F3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5339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TREND UPDATE</a:t>
            </a:r>
          </a:p>
        </p:txBody>
      </p:sp>
      <p:sp>
        <p:nvSpPr>
          <p:cNvPr id="32" name="example-value-2">
            <a:extLst xmlns:a="http://schemas.openxmlformats.org/drawingml/2006/main">
              <a:ext uri="{FF2B5EF4-FFF2-40B4-BE49-F238E27FC236}">
                <a16:creationId xmlns:a16="http://schemas.microsoft.com/office/drawing/2014/main" id="{DBAA6B68-9451-4554-9C18-85AA350E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8577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F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B0F17"/>
                </a:solidFill>
                <a:latin typeface="Malgun Gothic"/>
                <a:ea typeface="Malgun Gothic"/>
                <a:cs typeface="Malgun Gothic"/>
              </a:rPr>
              <a:t>baseline₃ 268.5</a:t>
            </a:r>
          </a:p>
        </p:txBody>
      </p:sp>
      <p:sp>
        <p:nvSpPr>
          <p:cNvPr id="33" name="example-detail-2">
            <a:extLst xmlns:a="http://schemas.openxmlformats.org/drawingml/2006/main">
              <a:ext uri="{FF2B5EF4-FFF2-40B4-BE49-F238E27FC236}">
                <a16:creationId xmlns:a16="http://schemas.microsoft.com/office/drawing/2014/main" id="{BC02A82A-F0DD-4634-AAD3-30B5C329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3911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>
                <a:solidFill>
                  <a:srgbClr val="5962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96273"/>
                </a:solidFill>
                <a:latin typeface="Malgun Gothic"/>
                <a:ea typeface="Malgun Gothic"/>
                <a:cs typeface="Malgun Gothic"/>
              </a:rPr>
              <a:t>shared condition₃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>
                <a:solidFill>
                  <a:srgbClr val="5962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96273"/>
                </a:solidFill>
                <a:latin typeface="Malgun Gothic"/>
                <a:ea typeface="Malgun Gothic"/>
                <a:cs typeface="Malgun Gothic"/>
              </a:rPr>
              <a:t>= 0.8333</a:t>
            </a:r>
          </a:p>
        </p:txBody>
      </p:sp>
      <p:sp>
        <p:nvSpPr>
          <p:cNvPr id="34" name="example-label-3">
            <a:extLst xmlns:a="http://schemas.openxmlformats.org/drawingml/2006/main">
              <a:ext uri="{FF2B5EF4-FFF2-40B4-BE49-F238E27FC236}">
                <a16:creationId xmlns:a16="http://schemas.microsoft.com/office/drawing/2014/main" id="{F602403F-04AD-4814-B28E-EC8BEDDC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5339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SHOT 3 판단</a:t>
            </a:r>
          </a:p>
        </p:txBody>
      </p:sp>
      <p:sp>
        <p:nvSpPr>
          <p:cNvPr id="35" name="example-value-3">
            <a:extLst xmlns:a="http://schemas.openxmlformats.org/drawingml/2006/main">
              <a:ext uri="{FF2B5EF4-FFF2-40B4-BE49-F238E27FC236}">
                <a16:creationId xmlns:a16="http://schemas.microsoft.com/office/drawing/2014/main" id="{8298884F-5AEE-4FA1-B70C-698E1F37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8577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428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F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B0F17"/>
                </a:solidFill>
                <a:latin typeface="Malgun Gothic"/>
                <a:ea typeface="Malgun Gothic"/>
                <a:cs typeface="Malgun Gothic"/>
              </a:rPr>
              <a:t>Bokeh point 223.8</a:t>
            </a:r>
          </a:p>
        </p:txBody>
      </p:sp>
      <p:sp>
        <p:nvSpPr>
          <p:cNvPr id="36" name="example-detail-3">
            <a:extLst xmlns:a="http://schemas.openxmlformats.org/drawingml/2006/main">
              <a:ext uri="{FF2B5EF4-FFF2-40B4-BE49-F238E27FC236}">
                <a16:creationId xmlns:a16="http://schemas.microsoft.com/office/drawing/2014/main" id="{CE032214-6417-4280-81A1-BA7074441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3911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>
                <a:solidFill>
                  <a:srgbClr val="5962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96273"/>
                </a:solidFill>
                <a:latin typeface="Malgun Gothic"/>
                <a:ea typeface="Malgun Gothic"/>
                <a:cs typeface="Malgun Gothic"/>
              </a:rPr>
              <a:t>full suffix point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>
                <a:solidFill>
                  <a:srgbClr val="5962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96273"/>
                </a:solidFill>
                <a:latin typeface="Malgun Gothic"/>
                <a:ea typeface="Malgun Gothic"/>
                <a:cs typeface="Malgun Gothic"/>
              </a:rPr>
              <a:t>= 447.9 ms</a:t>
            </a:r>
          </a:p>
        </p:txBody>
      </p:sp>
      <p:sp>
        <p:nvSpPr>
          <p:cNvPr id="37" name="example-label-4">
            <a:extLst xmlns:a="http://schemas.openxmlformats.org/drawingml/2006/main">
              <a:ext uri="{FF2B5EF4-FFF2-40B4-BE49-F238E27FC236}">
                <a16:creationId xmlns:a16="http://schemas.microsoft.com/office/drawing/2014/main" id="{448310BF-C1D4-4227-868D-6B0B6A2E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5339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SHOT 3 종료</a:t>
            </a:r>
          </a:p>
        </p:txBody>
      </p:sp>
      <p:sp>
        <p:nvSpPr>
          <p:cNvPr id="38" name="example-value-4">
            <a:extLst xmlns:a="http://schemas.openxmlformats.org/drawingml/2006/main">
              <a:ext uri="{FF2B5EF4-FFF2-40B4-BE49-F238E27FC236}">
                <a16:creationId xmlns:a16="http://schemas.microsoft.com/office/drawing/2014/main" id="{9A114989-91BC-4532-BCBC-298595A9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8577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F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B0F17"/>
                </a:solidFill>
                <a:latin typeface="Malgun Gothic"/>
                <a:ea typeface="Malgun Gothic"/>
                <a:cs typeface="Malgun Gothic"/>
              </a:rPr>
              <a:t>r = 0.1502</a:t>
            </a:r>
          </a:p>
        </p:txBody>
      </p:sp>
      <p:sp>
        <p:nvSpPr>
          <p:cNvPr id="39" name="example-detail-4">
            <a:extLst xmlns:a="http://schemas.openxmlformats.org/drawingml/2006/main">
              <a:ext uri="{FF2B5EF4-FFF2-40B4-BE49-F238E27FC236}">
                <a16:creationId xmlns:a16="http://schemas.microsoft.com/office/drawing/2014/main" id="{7032B4F8-F445-4E03-9DAC-05D9E96D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3911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>
                <a:solidFill>
                  <a:srgbClr val="5962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96273"/>
                </a:solidFill>
                <a:latin typeface="Malgun Gothic"/>
                <a:ea typeface="Malgun Gothic"/>
                <a:cs typeface="Malgun Gothic"/>
              </a:rPr>
              <a:t>ln(520.5 / 447.9)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>
                <a:solidFill>
                  <a:srgbClr val="5962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96273"/>
                </a:solidFill>
                <a:latin typeface="Malgun Gothic"/>
                <a:ea typeface="Malgun Gothic"/>
                <a:cs typeface="Malgun Gothic"/>
              </a:rPr>
              <a:t>양의 초과만 누적</a:t>
            </a:r>
          </a:p>
        </p:txBody>
      </p:sp>
      <p:sp>
        <p:nvSpPr>
          <p:cNvPr id="40" name="example-label-5">
            <a:extLst xmlns:a="http://schemas.openxmlformats.org/drawingml/2006/main">
              <a:ext uri="{FF2B5EF4-FFF2-40B4-BE49-F238E27FC236}">
                <a16:creationId xmlns:a16="http://schemas.microsoft.com/office/drawing/2014/main" id="{DF9963A3-8392-4992-8F12-C2277E5B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5339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SHOT 4 판단</a:t>
            </a:r>
          </a:p>
        </p:txBody>
      </p:sp>
      <p:sp>
        <p:nvSpPr>
          <p:cNvPr id="41" name="example-value-5">
            <a:extLst xmlns:a="http://schemas.openxmlformats.org/drawingml/2006/main">
              <a:ext uri="{FF2B5EF4-FFF2-40B4-BE49-F238E27FC236}">
                <a16:creationId xmlns:a16="http://schemas.microsoft.com/office/drawing/2014/main" id="{99E8F437-03C1-47D2-9102-B628496E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8577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F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B0F17"/>
                </a:solidFill>
                <a:latin typeface="Malgun Gothic"/>
                <a:ea typeface="Malgun Gothic"/>
                <a:cs typeface="Malgun Gothic"/>
              </a:rPr>
              <a:t>UB 541.3 ms</a:t>
            </a:r>
          </a:p>
        </p:txBody>
      </p:sp>
      <p:sp>
        <p:nvSpPr>
          <p:cNvPr id="42" name="example-detail-5">
            <a:extLst xmlns:a="http://schemas.openxmlformats.org/drawingml/2006/main">
              <a:ext uri="{FF2B5EF4-FFF2-40B4-BE49-F238E27FC236}">
                <a16:creationId xmlns:a16="http://schemas.microsoft.com/office/drawing/2014/main" id="{C4AE1078-EC6A-4FAE-B810-4C648DCB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3911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>
                <a:solidFill>
                  <a:srgbClr val="5962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96273"/>
                </a:solidFill>
                <a:latin typeface="Malgun Gothic"/>
                <a:ea typeface="Malgun Gothic"/>
                <a:cs typeface="Malgun Gothic"/>
              </a:rPr>
              <a:t>raw 536.0 ms에서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>
                <a:solidFill>
                  <a:srgbClr val="5962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96273"/>
                </a:solidFill>
                <a:latin typeface="Malgun Gothic"/>
                <a:ea typeface="Malgun Gothic"/>
                <a:cs typeface="Malgun Gothic"/>
              </a:rPr>
              <a:t>tail risk 5.3 ms 보정</a:t>
            </a:r>
          </a:p>
        </p:txBody>
      </p:sp>
      <p:sp>
        <p:nvSpPr>
          <p:cNvPr id="43" name="update-order-callout">
            <a:extLst xmlns:a="http://schemas.openxmlformats.org/drawingml/2006/main">
              <a:ext uri="{FF2B5EF4-FFF2-40B4-BE49-F238E27FC236}">
                <a16:creationId xmlns:a16="http://schemas.microsoft.com/office/drawing/2014/main" id="{A2B09D3E-F860-41F5-915B-D4C885D9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10934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현재 actual은 같은 shot의 판단에 소급되지 않습니다: residual update → baseline·condition update → 다음 shot부터 사용</a:t>
            </a:r>
          </a:p>
        </p:txBody>
      </p:sp>
      <p:sp>
        <p:nvSpPr>
          <p:cNvPr id="44" name="slide-3-source">
            <a:extLst xmlns:a="http://schemas.openxmlformats.org/drawingml/2006/main">
              <a:ext uri="{FF2B5EF4-FFF2-40B4-BE49-F238E27FC236}">
                <a16:creationId xmlns:a16="http://schemas.microsoft.com/office/drawing/2014/main" id="{F0464645-FCD1-4C12-9A3B-5316154A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962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596273"/>
                </a:solidFill>
                <a:latin typeface="Malgun Gothic"/>
                <a:ea typeface="Malgun Gothic"/>
                <a:cs typeface="Malgun Gothic"/>
              </a:rPr>
              <a:t>Method · exact WorkloadKey baseline + shared condition + exact-suffix residual + tail-corrected UB</a:t>
            </a:r>
          </a:p>
        </p:txBody>
      </p:sp>
      <p:sp>
        <p:nvSpPr>
          <p:cNvPr id="45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C29F89A5-5163-4E3C-B251-8555CDE0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0B0F1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>
                <a:solidFill>
                  <a:srgbClr val="0B0F17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351708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2026-08-11T10:10:16.1520000Z</dcterms:created>
  <dcterms:modified xsi:type="dcterms:W3CDTF">2026-08-11T10:10:16.1520000Z</dcterms:modified>
</coreProperties>
</file>